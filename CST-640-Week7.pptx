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67BEA3-2277-490C-A179-022D5AC77DA0}" v="3" dt="2026-05-04T01:07:30.6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2010" autoAdjust="0"/>
  </p:normalViewPr>
  <p:slideViewPr>
    <p:cSldViewPr snapToGrid="0" snapToObjects="1">
      <p:cViewPr varScale="1">
        <p:scale>
          <a:sx n="68" d="100"/>
          <a:sy n="68" d="100"/>
        </p:scale>
        <p:origin x="24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on Gritz" userId="4c87a6faacf97eef" providerId="LiveId" clId="{CC49F9C8-8DBB-4624-98F6-DC8D2F4FEDC7}"/>
    <pc:docChg chg="undo redo custSel modSld">
      <pc:chgData name="Aaron Gritz" userId="4c87a6faacf97eef" providerId="LiveId" clId="{CC49F9C8-8DBB-4624-98F6-DC8D2F4FEDC7}" dt="2026-05-04T01:12:47.955" v="202" actId="20577"/>
      <pc:docMkLst>
        <pc:docMk/>
      </pc:docMkLst>
      <pc:sldChg chg="modSp mod modNotesTx">
        <pc:chgData name="Aaron Gritz" userId="4c87a6faacf97eef" providerId="LiveId" clId="{CC49F9C8-8DBB-4624-98F6-DC8D2F4FEDC7}" dt="2026-05-04T01:12:47.955" v="202" actId="20577"/>
        <pc:sldMkLst>
          <pc:docMk/>
          <pc:sldMk cId="0" sldId="256"/>
        </pc:sldMkLst>
        <pc:spChg chg="mod">
          <ac:chgData name="Aaron Gritz" userId="4c87a6faacf97eef" providerId="LiveId" clId="{CC49F9C8-8DBB-4624-98F6-DC8D2F4FEDC7}" dt="2026-05-03T23:53:10.136" v="12"/>
          <ac:spMkLst>
            <pc:docMk/>
            <pc:sldMk cId="0" sldId="256"/>
            <ac:spMk id="3" creationId="{00000000-0000-0000-0000-000000000000}"/>
          </ac:spMkLst>
        </pc:spChg>
        <pc:spChg chg="mod">
          <ac:chgData name="Aaron Gritz" userId="4c87a6faacf97eef" providerId="LiveId" clId="{CC49F9C8-8DBB-4624-98F6-DC8D2F4FEDC7}" dt="2026-05-03T23:53:09.250" v="10" actId="1076"/>
          <ac:spMkLst>
            <pc:docMk/>
            <pc:sldMk cId="0" sldId="256"/>
            <ac:spMk id="4" creationId="{00000000-0000-0000-0000-000000000000}"/>
          </ac:spMkLst>
        </pc:spChg>
        <pc:spChg chg="mod">
          <ac:chgData name="Aaron Gritz" userId="4c87a6faacf97eef" providerId="LiveId" clId="{CC49F9C8-8DBB-4624-98F6-DC8D2F4FEDC7}" dt="2026-05-03T23:53:12.771" v="13"/>
          <ac:spMkLst>
            <pc:docMk/>
            <pc:sldMk cId="0" sldId="256"/>
            <ac:spMk id="5" creationId="{00000000-0000-0000-0000-000000000000}"/>
          </ac:spMkLst>
        </pc:spChg>
        <pc:spChg chg="mod">
          <ac:chgData name="Aaron Gritz" userId="4c87a6faacf97eef" providerId="LiveId" clId="{CC49F9C8-8DBB-4624-98F6-DC8D2F4FEDC7}" dt="2026-05-04T01:12:47.955" v="202" actId="20577"/>
          <ac:spMkLst>
            <pc:docMk/>
            <pc:sldMk cId="0" sldId="256"/>
            <ac:spMk id="6" creationId="{00000000-0000-0000-0000-000000000000}"/>
          </ac:spMkLst>
        </pc:spChg>
      </pc:sldChg>
      <pc:sldChg chg="modNotesTx">
        <pc:chgData name="Aaron Gritz" userId="4c87a6faacf97eef" providerId="LiveId" clId="{CC49F9C8-8DBB-4624-98F6-DC8D2F4FEDC7}" dt="2026-05-03T23:56:27.407" v="79" actId="20577"/>
        <pc:sldMkLst>
          <pc:docMk/>
          <pc:sldMk cId="0" sldId="257"/>
        </pc:sldMkLst>
      </pc:sldChg>
      <pc:sldChg chg="modNotesTx">
        <pc:chgData name="Aaron Gritz" userId="4c87a6faacf97eef" providerId="LiveId" clId="{CC49F9C8-8DBB-4624-98F6-DC8D2F4FEDC7}" dt="2026-05-03T23:56:42.632" v="81" actId="20577"/>
        <pc:sldMkLst>
          <pc:docMk/>
          <pc:sldMk cId="0" sldId="258"/>
        </pc:sldMkLst>
      </pc:sldChg>
      <pc:sldChg chg="modNotesTx">
        <pc:chgData name="Aaron Gritz" userId="4c87a6faacf97eef" providerId="LiveId" clId="{CC49F9C8-8DBB-4624-98F6-DC8D2F4FEDC7}" dt="2026-05-03T23:57:02.049" v="84" actId="20577"/>
        <pc:sldMkLst>
          <pc:docMk/>
          <pc:sldMk cId="0" sldId="259"/>
        </pc:sldMkLst>
      </pc:sldChg>
      <pc:sldChg chg="modNotesTx">
        <pc:chgData name="Aaron Gritz" userId="4c87a6faacf97eef" providerId="LiveId" clId="{CC49F9C8-8DBB-4624-98F6-DC8D2F4FEDC7}" dt="2026-05-03T23:57:51.480" v="93" actId="113"/>
        <pc:sldMkLst>
          <pc:docMk/>
          <pc:sldMk cId="0" sldId="260"/>
        </pc:sldMkLst>
      </pc:sldChg>
      <pc:sldChg chg="modSp mod modNotesTx">
        <pc:chgData name="Aaron Gritz" userId="4c87a6faacf97eef" providerId="LiveId" clId="{CC49F9C8-8DBB-4624-98F6-DC8D2F4FEDC7}" dt="2026-05-03T23:59:01.582" v="129" actId="20577"/>
        <pc:sldMkLst>
          <pc:docMk/>
          <pc:sldMk cId="0" sldId="261"/>
        </pc:sldMkLst>
        <pc:spChg chg="mod">
          <ac:chgData name="Aaron Gritz" userId="4c87a6faacf97eef" providerId="LiveId" clId="{CC49F9C8-8DBB-4624-98F6-DC8D2F4FEDC7}" dt="2026-05-03T23:53:16.761" v="15" actId="1076"/>
          <ac:spMkLst>
            <pc:docMk/>
            <pc:sldMk cId="0" sldId="261"/>
            <ac:spMk id="4" creationId="{00000000-0000-0000-0000-000000000000}"/>
          </ac:spMkLst>
        </pc:spChg>
        <pc:spChg chg="mod">
          <ac:chgData name="Aaron Gritz" userId="4c87a6faacf97eef" providerId="LiveId" clId="{CC49F9C8-8DBB-4624-98F6-DC8D2F4FEDC7}" dt="2026-05-03T23:53:16.761" v="15" actId="1076"/>
          <ac:spMkLst>
            <pc:docMk/>
            <pc:sldMk cId="0" sldId="261"/>
            <ac:spMk id="5" creationId="{00000000-0000-0000-0000-000000000000}"/>
          </ac:spMkLst>
        </pc:spChg>
        <pc:spChg chg="mod">
          <ac:chgData name="Aaron Gritz" userId="4c87a6faacf97eef" providerId="LiveId" clId="{CC49F9C8-8DBB-4624-98F6-DC8D2F4FEDC7}" dt="2026-05-03T23:53:16.761" v="15" actId="1076"/>
          <ac:spMkLst>
            <pc:docMk/>
            <pc:sldMk cId="0" sldId="261"/>
            <ac:spMk id="6" creationId="{00000000-0000-0000-0000-000000000000}"/>
          </ac:spMkLst>
        </pc:spChg>
        <pc:spChg chg="mod">
          <ac:chgData name="Aaron Gritz" userId="4c87a6faacf97eef" providerId="LiveId" clId="{CC49F9C8-8DBB-4624-98F6-DC8D2F4FEDC7}" dt="2026-05-03T23:53:16.761" v="15" actId="1076"/>
          <ac:spMkLst>
            <pc:docMk/>
            <pc:sldMk cId="0" sldId="261"/>
            <ac:spMk id="7" creationId="{00000000-0000-0000-0000-000000000000}"/>
          </ac:spMkLst>
        </pc:spChg>
        <pc:spChg chg="mod">
          <ac:chgData name="Aaron Gritz" userId="4c87a6faacf97eef" providerId="LiveId" clId="{CC49F9C8-8DBB-4624-98F6-DC8D2F4FEDC7}" dt="2026-05-03T23:53:16.761" v="15" actId="1076"/>
          <ac:spMkLst>
            <pc:docMk/>
            <pc:sldMk cId="0" sldId="261"/>
            <ac:spMk id="8" creationId="{00000000-0000-0000-0000-000000000000}"/>
          </ac:spMkLst>
        </pc:spChg>
        <pc:spChg chg="mod">
          <ac:chgData name="Aaron Gritz" userId="4c87a6faacf97eef" providerId="LiveId" clId="{CC49F9C8-8DBB-4624-98F6-DC8D2F4FEDC7}" dt="2026-05-03T23:53:16.761" v="15" actId="1076"/>
          <ac:spMkLst>
            <pc:docMk/>
            <pc:sldMk cId="0" sldId="261"/>
            <ac:spMk id="9" creationId="{00000000-0000-0000-0000-000000000000}"/>
          </ac:spMkLst>
        </pc:spChg>
        <pc:spChg chg="mod">
          <ac:chgData name="Aaron Gritz" userId="4c87a6faacf97eef" providerId="LiveId" clId="{CC49F9C8-8DBB-4624-98F6-DC8D2F4FEDC7}" dt="2026-05-03T23:53:16.761" v="15" actId="1076"/>
          <ac:spMkLst>
            <pc:docMk/>
            <pc:sldMk cId="0" sldId="261"/>
            <ac:spMk id="10" creationId="{00000000-0000-0000-0000-000000000000}"/>
          </ac:spMkLst>
        </pc:spChg>
        <pc:spChg chg="mod">
          <ac:chgData name="Aaron Gritz" userId="4c87a6faacf97eef" providerId="LiveId" clId="{CC49F9C8-8DBB-4624-98F6-DC8D2F4FEDC7}" dt="2026-05-03T23:53:16.761" v="15" actId="1076"/>
          <ac:spMkLst>
            <pc:docMk/>
            <pc:sldMk cId="0" sldId="261"/>
            <ac:spMk id="11" creationId="{00000000-0000-0000-0000-000000000000}"/>
          </ac:spMkLst>
        </pc:spChg>
        <pc:spChg chg="mod">
          <ac:chgData name="Aaron Gritz" userId="4c87a6faacf97eef" providerId="LiveId" clId="{CC49F9C8-8DBB-4624-98F6-DC8D2F4FEDC7}" dt="2026-05-03T23:53:16.761" v="15" actId="1076"/>
          <ac:spMkLst>
            <pc:docMk/>
            <pc:sldMk cId="0" sldId="261"/>
            <ac:spMk id="12" creationId="{00000000-0000-0000-0000-000000000000}"/>
          </ac:spMkLst>
        </pc:spChg>
      </pc:sldChg>
      <pc:sldChg chg="addSp modSp mod modNotesTx">
        <pc:chgData name="Aaron Gritz" userId="4c87a6faacf97eef" providerId="LiveId" clId="{CC49F9C8-8DBB-4624-98F6-DC8D2F4FEDC7}" dt="2026-05-04T01:10:54.938" v="199" actId="20577"/>
        <pc:sldMkLst>
          <pc:docMk/>
          <pc:sldMk cId="0" sldId="262"/>
        </pc:sldMkLst>
        <pc:spChg chg="mod">
          <ac:chgData name="Aaron Gritz" userId="4c87a6faacf97eef" providerId="LiveId" clId="{CC49F9C8-8DBB-4624-98F6-DC8D2F4FEDC7}" dt="2026-05-04T00:04:14.832" v="130" actId="20577"/>
          <ac:spMkLst>
            <pc:docMk/>
            <pc:sldMk cId="0" sldId="262"/>
            <ac:spMk id="3" creationId="{00000000-0000-0000-0000-000000000000}"/>
          </ac:spMkLst>
        </pc:spChg>
        <pc:spChg chg="mod">
          <ac:chgData name="Aaron Gritz" userId="4c87a6faacf97eef" providerId="LiveId" clId="{CC49F9C8-8DBB-4624-98F6-DC8D2F4FEDC7}" dt="2026-05-04T00:14:42.097" v="188" actId="14100"/>
          <ac:spMkLst>
            <pc:docMk/>
            <pc:sldMk cId="0" sldId="262"/>
            <ac:spMk id="4" creationId="{00000000-0000-0000-0000-000000000000}"/>
          </ac:spMkLst>
        </pc:spChg>
        <pc:spChg chg="mod">
          <ac:chgData name="Aaron Gritz" userId="4c87a6faacf97eef" providerId="LiveId" clId="{CC49F9C8-8DBB-4624-98F6-DC8D2F4FEDC7}" dt="2026-05-04T00:14:38.841" v="187" actId="1076"/>
          <ac:spMkLst>
            <pc:docMk/>
            <pc:sldMk cId="0" sldId="262"/>
            <ac:spMk id="5" creationId="{00000000-0000-0000-0000-000000000000}"/>
          </ac:spMkLst>
        </pc:spChg>
        <pc:spChg chg="mod">
          <ac:chgData name="Aaron Gritz" userId="4c87a6faacf97eef" providerId="LiveId" clId="{CC49F9C8-8DBB-4624-98F6-DC8D2F4FEDC7}" dt="2026-05-04T01:07:30.696" v="189"/>
          <ac:spMkLst>
            <pc:docMk/>
            <pc:sldMk cId="0" sldId="262"/>
            <ac:spMk id="6" creationId="{00000000-0000-0000-0000-000000000000}"/>
          </ac:spMkLst>
        </pc:spChg>
        <pc:spChg chg="add mod">
          <ac:chgData name="Aaron Gritz" userId="4c87a6faacf97eef" providerId="LiveId" clId="{CC49F9C8-8DBB-4624-98F6-DC8D2F4FEDC7}" dt="2026-05-04T00:14:26.933" v="184" actId="114"/>
          <ac:spMkLst>
            <pc:docMk/>
            <pc:sldMk cId="0" sldId="262"/>
            <ac:spMk id="8" creationId="{F766F858-F666-2631-B5E4-AA78217D0FB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821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into a product manager role at CodeCrafters Inc., focused on a developer-facing tool.
</a:t>
            </a:r>
            <a:r>
              <a:rPr lang="en-US" b="1" dirty="0"/>
              <a:t>Tool selected: </a:t>
            </a:r>
            <a:r>
              <a:rPr lang="en-US" dirty="0"/>
              <a:t>GitHub, chosen for its broad feature surface and well-documented community feedback.
</a:t>
            </a:r>
            <a:r>
              <a:rPr lang="en-US" b="1" dirty="0"/>
              <a:t>Framework selected: </a:t>
            </a:r>
            <a:r>
              <a:rPr lang="en-US" dirty="0"/>
              <a:t>the MoSCoW Matrix, which categorizes features into Must, Should, Could, and Won't-have.
</a:t>
            </a:r>
            <a:r>
              <a:rPr lang="en-US" b="1" dirty="0"/>
              <a:t>Goal of the project: </a:t>
            </a:r>
            <a:r>
              <a:rPr lang="en-US" dirty="0"/>
              <a:t>turn realistic customer feedback into a clear, defensible prioritization that supports the next release planning cycle.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GitHub for this analysis: it's one of the most widely used tools in software development, with a wide feature surface and a deep history of public user feedback to draw from.
Primary purpose: collaborative software development built around Git version control.
The platform sits at the center of how most modern development teams work day to day.
Repositories and version control are the foundation, and everything else builds on top.
Pull requests are where collaboration actually happens, with code review built directly into the merge process.
Issue tracking keeps bugs and feature requests close to the code they relate to, which improves transparency.
GitHub Actions handles continuous integration without forcing teams to set up separate tools like Jenkins or CircleCI.
Project Boards layer in lightweight project management without leaving the codebase.
Search and documentation are how teams and newcomers find their way around large or unfamiliar repos.
With this many features and a constant stream of user feedback, deciding what to build next is exactly the kind of problem MoSCoW is designed to handle.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five feedback questions from Module 6's virtual lab activity, applied to GitHub.
Responses were crafted to reflect realistic feedback themes commonly seen in developer surveys, GitHub community discussions, and product reviews.
KEY POINT — Q1 — Most valuable features are pull requests, version control, and issue tracking, which form the daily collaboration backbone for development teams. The pull request workflow with inline comments and review approvals is what makes GitHub indispensable for team-based work.
KEY POINT — Q2 — Improvement areas focus on search at scale and the beginner experience. Power users love the depth, but onboarding has been a long-standing complaint in the community. GitHub Actions setup specifically gets flagged as confusing for first-time users.
KEY POINT — Q3 — UI/UX feedback is mixed, with experienced users finding it functional and new users finding it dense. Recent navigation redesigns have been divisive in community discussions.
KEY POINT — Q4 — Recurring issues center on performance and notifications. Large diff loading times affect productivity for major refactor pull requests. Actions runner queues can stall during peak development hours.
KEY POINT — Q5 — Feature suggestions map directly to the gaps identified in Q2. Tutorials and simplified Actions setup will show up in the Could-Have category on the matrix slide.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MoSCoW was selected because it pairs well with feedback-driven prioritization and works at scale across GitHub's wide feature surface.
The framework was developed by Dai Clegg at Oracle and later adapted for the Dynamic System Development Method (MoSCoW Prioritization, 2022).
Other frameworks like KANO, RICE, or weighted scoring could also work, but MoSCoW gives the clearest visual story for a stakeholder audience in a short presentation.
The four categories are Must-Have, Should-Have, Could-Have, and Won't-Have.
Must-Have features answer the question 'what happens if this is not delivered?' If the answer is 'the product fails,' it belongs in this category.
Should-Have features add real value but the product can still function in the short term without them.
Could-Have features are the first to get deprioritized when timelines tighten or scope grows.
Won't-Have is the often-overlooked category that prevents scope creep by explicitly naming what is out for this release. It also helps stakeholders understand what got deferred and why, which cuts down on repeated requests for the same features.
The framework gives a fast way to communicate priorities without forcing the team into a rigid scoring exercise on day one.
Sets up the next slide where these four categories get applied to the actual GitHub features.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MoSCoW prioritization of eight GitHub features based on the customer feedback themes from the previous slide.
Eight features were selected to balance core functionality, workflow improvements, and future enhancements.
</a:t>
            </a:r>
            <a:r>
              <a:rPr lang="en-US" b="1" dirty="0"/>
              <a:t>Must-Have </a:t>
            </a:r>
            <a:r>
              <a:rPr lang="en-US" dirty="0"/>
              <a:t>features represent GitHub's core value and are critical to daily development workflows.
- Version control with Git repositories is the foundation of the platform. Without it, GitHub does not exist as a product.
- Pull requests and code review drive team collaboration and code quality.
- Issue tracking provides centralized visibility into bugs and enhancements tied directly to the codebase.
These three features answer the test question of 'what happens if this fails?' and the answer is the product itself fails.
</a:t>
            </a:r>
            <a:r>
              <a:rPr lang="en-US" b="1" dirty="0"/>
              <a:t>Should-Have </a:t>
            </a:r>
            <a:r>
              <a:rPr lang="en-US" dirty="0"/>
              <a:t>features add significant value but are not strictly required for every user.
- GitHub Actions delivers automation for testing and deployment, but solo developers and small projects can ship without it.
- Project Boards support planning at scale, and smaller teams often manage fine without them.
These features are scheduled but can move to a later release if timelines tighten.
</a:t>
            </a:r>
            <a:r>
              <a:rPr lang="en-US" b="1" dirty="0"/>
              <a:t>Could-Have </a:t>
            </a:r>
            <a:r>
              <a:rPr lang="en-US" dirty="0"/>
              <a:t>features focus on usability and quality-of-life improvements.
- Advanced search and filtering improves productivity, especially for large organizations and open-source maintainers.
- Enhanced onboarding and interactive tutorials address recurring feedback about the platform's learning curve.
These features get implemented if time and resources allow, and the platform still works well without them.
</a:t>
            </a:r>
            <a:r>
              <a:rPr lang="en-US" b="1" dirty="0"/>
              <a:t>Won't-Have </a:t>
            </a:r>
            <a:r>
              <a:rPr lang="en-US" dirty="0"/>
              <a:t>for this release is the built-in real-time code editor.
- This was intentionally deprioritized because most developers already use external IDEs like VS Code, IntelliJ, or Vim.
- It also conflicts with GitHub's strategic position as a collaboration platform rather than a development environment.
- Naming this explicitly prevents stakeholders from repeatedly asking why it isn't being built.
Closing point: the matrix gives a clear, defensible map of where engineering effort should go next, grounded in the customer feedback we analyzed earlier.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feedback drives the entire prioritization exercise. Without realistic input, the matrix is just opinion.
DigitalOcean's roadmap guide makes the case that listening to current and churned customers helps surface the most pressing pain points and unmet needs (How to Prioritize Your Product Roadmap, n.d.). That is exactly what happened here: feedback themes pointed directly to which features earned Must-Have versus Could-Have status.
The matrix gives a defensible map of priorities and turns 'what should we build next?' into a question with a clear answer. The Won't-Have category is often the most underrated piece of MoSCoW because it manages stakeholder expectations and prevents the same deferred features from coming up in every planning meeting.
The biggest weakness of MoSCoW is that it does not include an objective ranking method. Teams need to bring their own scoring system, or stakeholder bias can quietly push features into the wrong buckets. Categories also drift: a Should-Have today can become a Must-Have once a competitor ships it. Disagreements on Must versus Should can stall alignment, especially when sales, engineering, and product see priorities differently.
Pairing MoSCoW with a second framework like KANO or weighted scoring gives a more complete view, especially for features where the impact on customer satisfaction is unclear. Re-running the analysis quarterly keeps the matrix current and catches shifts before they become problems. The matrix is also a communication tool, not just a planning artifact, useful for explaining decisions across departments.
Feedback-driven prioritization is iterative, and this matrix is a starting point, not a final answer.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in APA formatting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hyperlink" Target="https://www.productplan.com/glossary/moscow-prioritization" TargetMode="External"/><Relationship Id="rId3" Type="http://schemas.openxmlformats.org/officeDocument/2006/relationships/hyperlink" Target="https://github.com/Rusty-nails/Github-MoSCoW-Matrix" TargetMode="External"/><Relationship Id="rId7" Type="http://schemas.openxmlformats.org/officeDocument/2006/relationships/hyperlink" Target="https://www.productboard.com/glossary/product-prioritization-framework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community.atlassian.com/forums/App-Central-articles/Understanding-the-MoSCoW-prioritization-How-to-implement-it-into/ba-p/2463999" TargetMode="External"/><Relationship Id="rId5" Type="http://schemas.openxmlformats.org/officeDocument/2006/relationships/hyperlink" Target="https://productschool.com/blog/product-fundamentals/ultimate-guide-product-prioritization" TargetMode="External"/><Relationship Id="rId4" Type="http://schemas.openxmlformats.org/officeDocument/2006/relationships/hyperlink" Target="https://www.digitalocean.com/resources/articles/product-roadmap-prioritization" TargetMode="External"/><Relationship Id="rId9" Type="http://schemas.openxmlformats.org/officeDocument/2006/relationships/hyperlink" Target="https://www.wimi-teamwork.com/en/blog/project-management/moscow-metho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57200" y="457200"/>
            <a:ext cx="228600" cy="228600"/>
          </a:xfrm>
          <a:prstGeom prst="ellipse">
            <a:avLst/>
          </a:prstGeom>
          <a:solidFill>
            <a:srgbClr val="8250DF"/>
          </a:solidFill>
          <a:ln w="12700">
            <a:solidFill>
              <a:srgbClr val="8250DF"/>
            </a:solidFill>
            <a:prstDash val="solid"/>
          </a:ln>
        </p:spPr>
        <p:txBody>
          <a:bodyPr/>
          <a:lstStyle/>
          <a:p>
            <a:endParaRPr lang="en-US"/>
          </a:p>
        </p:txBody>
      </p:sp>
      <p:sp>
        <p:nvSpPr>
          <p:cNvPr id="3" name="Text 1"/>
          <p:cNvSpPr/>
          <p:nvPr/>
        </p:nvSpPr>
        <p:spPr>
          <a:xfrm>
            <a:off x="457200" y="1463040"/>
            <a:ext cx="8229600" cy="777240"/>
          </a:xfrm>
          <a:prstGeom prst="rect">
            <a:avLst/>
          </a:prstGeom>
          <a:noFill/>
          <a:ln/>
        </p:spPr>
        <p:txBody>
          <a:bodyPr wrap="square"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Prioritizing GitHub Features</a:t>
            </a:r>
            <a:endParaRPr lang="en-US" sz="4000" dirty="0"/>
          </a:p>
        </p:txBody>
      </p:sp>
      <p:sp>
        <p:nvSpPr>
          <p:cNvPr id="4" name="Text 2"/>
          <p:cNvSpPr/>
          <p:nvPr/>
        </p:nvSpPr>
        <p:spPr>
          <a:xfrm>
            <a:off x="457200" y="2240280"/>
            <a:ext cx="8229600" cy="640080"/>
          </a:xfrm>
          <a:prstGeom prst="rect">
            <a:avLst/>
          </a:prstGeom>
          <a:noFill/>
          <a:ln/>
        </p:spPr>
        <p:txBody>
          <a:bodyPr wrap="square" rtlCol="0" anchor="ctr"/>
          <a:lstStyle/>
          <a:p>
            <a:pPr marL="0" indent="0" algn="l">
              <a:buNone/>
            </a:pPr>
            <a:r>
              <a:rPr lang="en-US" sz="3200" dirty="0">
                <a:solidFill>
                  <a:srgbClr val="C9D1D9"/>
                </a:solidFill>
                <a:latin typeface="Calibri" pitchFamily="34" charset="0"/>
                <a:ea typeface="Calibri" pitchFamily="34" charset="-122"/>
                <a:cs typeface="Calibri" pitchFamily="34" charset="-120"/>
              </a:rPr>
              <a:t>Using the MoSCoW Framework</a:t>
            </a:r>
            <a:endParaRPr lang="en-US" sz="3200" dirty="0"/>
          </a:p>
        </p:txBody>
      </p:sp>
      <p:sp>
        <p:nvSpPr>
          <p:cNvPr id="5" name="Text 3"/>
          <p:cNvSpPr/>
          <p:nvPr/>
        </p:nvSpPr>
        <p:spPr>
          <a:xfrm>
            <a:off x="457200" y="3063240"/>
            <a:ext cx="8229600" cy="365760"/>
          </a:xfrm>
          <a:prstGeom prst="rect">
            <a:avLst/>
          </a:prstGeom>
          <a:noFill/>
          <a:ln/>
        </p:spPr>
        <p:txBody>
          <a:bodyPr wrap="square" rtlCol="0" anchor="ctr"/>
          <a:lstStyle/>
          <a:p>
            <a:pPr marL="0" indent="0" algn="l">
              <a:buNone/>
            </a:pPr>
            <a:r>
              <a:rPr lang="en-US" sz="1800" i="1" dirty="0">
                <a:solidFill>
                  <a:srgbClr val="8250DF"/>
                </a:solidFill>
                <a:latin typeface="Calibri" pitchFamily="34" charset="0"/>
                <a:ea typeface="Calibri" pitchFamily="34" charset="-122"/>
                <a:cs typeface="Calibri" pitchFamily="34" charset="-120"/>
              </a:rPr>
              <a:t>A Customer Feedback-Driven Approach</a:t>
            </a:r>
            <a:endParaRPr lang="en-US" sz="1800" dirty="0"/>
          </a:p>
        </p:txBody>
      </p:sp>
      <p:sp>
        <p:nvSpPr>
          <p:cNvPr id="6" name="Text 4"/>
          <p:cNvSpPr/>
          <p:nvPr/>
        </p:nvSpPr>
        <p:spPr>
          <a:xfrm>
            <a:off x="457200" y="4023360"/>
            <a:ext cx="8229600" cy="914400"/>
          </a:xfrm>
          <a:prstGeom prst="rect">
            <a:avLst/>
          </a:prstGeom>
          <a:noFill/>
          <a:ln/>
        </p:spPr>
        <p:txBody>
          <a:bodyPr wrap="square" rtlCol="0" anchor="t"/>
          <a:lstStyle/>
          <a:p>
            <a:pPr marL="0" indent="0" algn="l">
              <a:buNone/>
            </a:pPr>
            <a:r>
              <a:rPr lang="en-US" sz="1300" dirty="0">
                <a:solidFill>
                  <a:srgbClr val="8B949E"/>
                </a:solidFill>
                <a:latin typeface="Calibri" pitchFamily="34" charset="0"/>
                <a:ea typeface="Calibri" pitchFamily="34" charset="-122"/>
                <a:cs typeface="Calibri" pitchFamily="34" charset="-120"/>
              </a:rPr>
              <a:t>m252</a:t>
            </a:r>
            <a:endParaRPr lang="en-US" sz="1400" dirty="0"/>
          </a:p>
          <a:p>
            <a:pPr marL="0" indent="0" algn="l">
              <a:buNone/>
            </a:pPr>
            <a:r>
              <a:rPr lang="en-US" sz="1300" dirty="0">
                <a:solidFill>
                  <a:srgbClr val="8B949E"/>
                </a:solidFill>
                <a:latin typeface="Calibri" pitchFamily="34" charset="0"/>
                <a:ea typeface="Calibri" pitchFamily="34" charset="-122"/>
                <a:cs typeface="Calibri" pitchFamily="34" charset="-120"/>
              </a:rPr>
              <a:t>Week 7 Assignment</a:t>
            </a:r>
            <a:endParaRPr lang="en-US" sz="1400" dirty="0"/>
          </a:p>
          <a:p>
            <a:r>
              <a:rPr lang="en-US" sz="1400" dirty="0">
                <a:solidFill>
                  <a:srgbClr val="8B949E"/>
                </a:solidFill>
                <a:latin typeface="Calibri" pitchFamily="34" charset="0"/>
                <a:ea typeface="Calibri" pitchFamily="34" charset="-122"/>
                <a:cs typeface="Calibri" pitchFamily="34" charset="-120"/>
              </a:rPr>
              <a:t>CST-640</a:t>
            </a:r>
            <a:endParaRPr lang="en-US" sz="1400" dirty="0"/>
          </a:p>
          <a:p>
            <a:pPr marL="0" indent="0" algn="l">
              <a:buNone/>
            </a:pPr>
            <a:r>
              <a:rPr lang="en-US" sz="1300" dirty="0">
                <a:solidFill>
                  <a:srgbClr val="8B949E"/>
                </a:solidFill>
                <a:latin typeface="Calibri" pitchFamily="34" charset="0"/>
                <a:ea typeface="Calibri" pitchFamily="34" charset="-122"/>
                <a:cs typeface="Calibri" pitchFamily="34" charset="-120"/>
              </a:rPr>
              <a:t>5/3/2026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lgn="l">
              <a:buNone/>
            </a:pPr>
            <a:r>
              <a:rPr lang="en-US" sz="2800" b="1" dirty="0">
                <a:solidFill>
                  <a:srgbClr val="1F2328"/>
                </a:solidFill>
                <a:latin typeface="Calibri" pitchFamily="34" charset="0"/>
                <a:ea typeface="Calibri" pitchFamily="34" charset="-122"/>
                <a:cs typeface="Calibri" pitchFamily="34" charset="-120"/>
              </a:rPr>
              <a:t>GitHub: A Developer Collaboration Platform</a:t>
            </a:r>
            <a:endParaRPr lang="en-US" sz="2800" dirty="0"/>
          </a:p>
        </p:txBody>
      </p:sp>
      <p:sp>
        <p:nvSpPr>
          <p:cNvPr id="3" name="Text 1"/>
          <p:cNvSpPr/>
          <p:nvPr/>
        </p:nvSpPr>
        <p:spPr>
          <a:xfrm>
            <a:off x="457200" y="1142998"/>
            <a:ext cx="3840480" cy="3657601"/>
          </a:xfrm>
          <a:prstGeom prst="rect">
            <a:avLst/>
          </a:prstGeom>
          <a:noFill/>
          <a:ln/>
        </p:spPr>
        <p:txBody>
          <a:bodyPr wrap="square" rtlCol="0" anchor="t"/>
          <a:lstStyle/>
          <a:p>
            <a:pPr marL="285750" indent="-285750" algn="l">
              <a:spcAft>
                <a:spcPts val="800"/>
              </a:spcAft>
              <a:buFont typeface="Arial" panose="020B0604020202020204" pitchFamily="34" charset="0"/>
              <a:buChar char="•"/>
            </a:pPr>
            <a:r>
              <a:rPr lang="en-US" sz="1300" dirty="0">
                <a:solidFill>
                  <a:srgbClr val="424A53"/>
                </a:solidFill>
                <a:latin typeface="Calibri" pitchFamily="34" charset="0"/>
                <a:ea typeface="Calibri" pitchFamily="34" charset="-122"/>
                <a:cs typeface="Calibri" pitchFamily="34" charset="-120"/>
              </a:rPr>
              <a:t>GitHub is a Git-based code hosting and collaboration platform used by developers and teams to manage source code, track changes, and ship software together. </a:t>
            </a:r>
          </a:p>
          <a:p>
            <a:pPr algn="l">
              <a:spcAft>
                <a:spcPts val="800"/>
              </a:spcAft>
            </a:pPr>
            <a:endParaRPr lang="en-US" sz="1300" dirty="0">
              <a:solidFill>
                <a:srgbClr val="424A53"/>
              </a:solidFill>
              <a:latin typeface="Calibri" pitchFamily="34" charset="0"/>
              <a:ea typeface="Calibri" pitchFamily="34" charset="-122"/>
              <a:cs typeface="Calibri" pitchFamily="34" charset="-120"/>
            </a:endParaRPr>
          </a:p>
          <a:p>
            <a:pPr marL="285750" indent="-285750" algn="l">
              <a:spcAft>
                <a:spcPts val="800"/>
              </a:spcAft>
              <a:buFont typeface="Arial" panose="020B0604020202020204" pitchFamily="34" charset="0"/>
              <a:buChar char="•"/>
            </a:pPr>
            <a:r>
              <a:rPr lang="en-US" sz="1300" dirty="0">
                <a:solidFill>
                  <a:srgbClr val="424A53"/>
                </a:solidFill>
                <a:latin typeface="Calibri" pitchFamily="34" charset="0"/>
                <a:ea typeface="Calibri" pitchFamily="34" charset="-122"/>
                <a:cs typeface="Calibri" pitchFamily="34" charset="-120"/>
              </a:rPr>
              <a:t>It started as a simple place to host code and grew into a full platform covering the development lifecycle, from writing and reviewing code to automating builds and managing project work.</a:t>
            </a:r>
            <a:endParaRPr lang="en-US" sz="1300" dirty="0"/>
          </a:p>
        </p:txBody>
      </p:sp>
      <p:sp>
        <p:nvSpPr>
          <p:cNvPr id="4" name="Text 2"/>
          <p:cNvSpPr/>
          <p:nvPr/>
        </p:nvSpPr>
        <p:spPr>
          <a:xfrm>
            <a:off x="4663440" y="960120"/>
            <a:ext cx="4023360" cy="365760"/>
          </a:xfrm>
          <a:prstGeom prst="rect">
            <a:avLst/>
          </a:prstGeom>
          <a:noFill/>
          <a:ln/>
        </p:spPr>
        <p:txBody>
          <a:bodyPr wrap="square" lIns="0" tIns="0" rIns="0" bIns="0" rtlCol="0" anchor="ctr"/>
          <a:lstStyle/>
          <a:p>
            <a:pPr marL="0" indent="0" algn="l">
              <a:buNone/>
            </a:pPr>
            <a:r>
              <a:rPr lang="en-US" sz="1600" b="1" dirty="0">
                <a:solidFill>
                  <a:srgbClr val="8250DF"/>
                </a:solidFill>
                <a:latin typeface="Calibri" pitchFamily="34" charset="0"/>
                <a:ea typeface="Calibri" pitchFamily="34" charset="-122"/>
                <a:cs typeface="Calibri" pitchFamily="34" charset="-120"/>
              </a:rPr>
              <a:t>Core Capabilities</a:t>
            </a:r>
            <a:endParaRPr lang="en-US" sz="1600" dirty="0"/>
          </a:p>
        </p:txBody>
      </p:sp>
      <p:sp>
        <p:nvSpPr>
          <p:cNvPr id="5" name="Text 3"/>
          <p:cNvSpPr/>
          <p:nvPr/>
        </p:nvSpPr>
        <p:spPr>
          <a:xfrm>
            <a:off x="4663440" y="1371600"/>
            <a:ext cx="4023360" cy="3566160"/>
          </a:xfrm>
          <a:prstGeom prst="rect">
            <a:avLst/>
          </a:prstGeom>
          <a:noFill/>
          <a:ln/>
        </p:spPr>
        <p:txBody>
          <a:bodyPr wrap="square" rtlCol="0" anchor="t"/>
          <a:lstStyle/>
          <a:p>
            <a:pPr marL="0" indent="0" algn="l">
              <a:buNone/>
            </a:pPr>
            <a:r>
              <a:rPr lang="en-US" sz="1300" b="1" dirty="0">
                <a:solidFill>
                  <a:srgbClr val="1F2328"/>
                </a:solidFill>
                <a:latin typeface="Calibri" pitchFamily="34" charset="0"/>
                <a:ea typeface="Calibri" pitchFamily="34" charset="-122"/>
                <a:cs typeface="Calibri" pitchFamily="34" charset="-120"/>
              </a:rPr>
              <a:t>Repositories and Version Control</a:t>
            </a:r>
            <a:endParaRPr lang="en-US" sz="1300" dirty="0"/>
          </a:p>
          <a:p>
            <a:pPr marL="0" indent="0" algn="l">
              <a:buNone/>
            </a:pPr>
            <a:r>
              <a:rPr lang="en-US" sz="1100" dirty="0">
                <a:solidFill>
                  <a:srgbClr val="656D76"/>
                </a:solidFill>
                <a:latin typeface="Calibri" pitchFamily="34" charset="0"/>
                <a:ea typeface="Calibri" pitchFamily="34" charset="-122"/>
                <a:cs typeface="Calibri" pitchFamily="34" charset="-120"/>
              </a:rPr>
              <a:t>Cloud-hosted Git repos for branching, merging, and tracking history</a:t>
            </a:r>
            <a:endParaRPr lang="en-US" sz="13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1F2328"/>
                </a:solidFill>
                <a:latin typeface="Calibri" pitchFamily="34" charset="0"/>
                <a:ea typeface="Calibri" pitchFamily="34" charset="-122"/>
                <a:cs typeface="Calibri" pitchFamily="34" charset="-120"/>
              </a:rPr>
              <a:t>Pull Requests and Code Review</a:t>
            </a:r>
            <a:endParaRPr lang="en-US" sz="1300" dirty="0"/>
          </a:p>
          <a:p>
            <a:pPr marL="0" indent="0" algn="l">
              <a:buNone/>
            </a:pPr>
            <a:r>
              <a:rPr lang="en-US" sz="1100" dirty="0">
                <a:solidFill>
                  <a:srgbClr val="656D76"/>
                </a:solidFill>
                <a:latin typeface="Calibri" pitchFamily="34" charset="0"/>
                <a:ea typeface="Calibri" pitchFamily="34" charset="-122"/>
                <a:cs typeface="Calibri" pitchFamily="34" charset="-120"/>
              </a:rPr>
              <a:t>Peer review with inline comments, approvals, and change tracking</a:t>
            </a:r>
            <a:endParaRPr lang="en-US" sz="13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1F2328"/>
                </a:solidFill>
                <a:latin typeface="Calibri" pitchFamily="34" charset="0"/>
                <a:ea typeface="Calibri" pitchFamily="34" charset="-122"/>
                <a:cs typeface="Calibri" pitchFamily="34" charset="-120"/>
              </a:rPr>
              <a:t>Issue Tracking</a:t>
            </a:r>
            <a:endParaRPr lang="en-US" sz="1300" dirty="0"/>
          </a:p>
          <a:p>
            <a:pPr marL="0" indent="0" algn="l">
              <a:buNone/>
            </a:pPr>
            <a:r>
              <a:rPr lang="en-US" sz="1100" dirty="0">
                <a:solidFill>
                  <a:srgbClr val="656D76"/>
                </a:solidFill>
                <a:latin typeface="Calibri" pitchFamily="34" charset="0"/>
                <a:ea typeface="Calibri" pitchFamily="34" charset="-122"/>
                <a:cs typeface="Calibri" pitchFamily="34" charset="-120"/>
              </a:rPr>
              <a:t>Centralized place to log bugs, enhancements, and feature requests</a:t>
            </a:r>
            <a:endParaRPr lang="en-US" sz="13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1F2328"/>
                </a:solidFill>
                <a:latin typeface="Calibri" pitchFamily="34" charset="0"/>
                <a:ea typeface="Calibri" pitchFamily="34" charset="-122"/>
                <a:cs typeface="Calibri" pitchFamily="34" charset="-120"/>
              </a:rPr>
              <a:t>GitHub Actions</a:t>
            </a:r>
            <a:endParaRPr lang="en-US" sz="1300" dirty="0"/>
          </a:p>
          <a:p>
            <a:pPr marL="0" indent="0" algn="l">
              <a:buNone/>
            </a:pPr>
            <a:r>
              <a:rPr lang="en-US" sz="1100" dirty="0">
                <a:solidFill>
                  <a:srgbClr val="656D76"/>
                </a:solidFill>
                <a:latin typeface="Calibri" pitchFamily="34" charset="0"/>
                <a:ea typeface="Calibri" pitchFamily="34" charset="-122"/>
                <a:cs typeface="Calibri" pitchFamily="34" charset="-120"/>
              </a:rPr>
              <a:t>Built-in CI/CD pipelines for automated testing and deployment</a:t>
            </a:r>
            <a:endParaRPr lang="en-US" sz="13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1F2328"/>
                </a:solidFill>
                <a:latin typeface="Calibri" pitchFamily="34" charset="0"/>
                <a:ea typeface="Calibri" pitchFamily="34" charset="-122"/>
                <a:cs typeface="Calibri" pitchFamily="34" charset="-120"/>
              </a:rPr>
              <a:t>Project Boards</a:t>
            </a:r>
            <a:endParaRPr lang="en-US" sz="1300" dirty="0"/>
          </a:p>
          <a:p>
            <a:pPr marL="0" indent="0" algn="l">
              <a:buNone/>
            </a:pPr>
            <a:r>
              <a:rPr lang="en-US" sz="1100" dirty="0">
                <a:solidFill>
                  <a:srgbClr val="656D76"/>
                </a:solidFill>
                <a:latin typeface="Calibri" pitchFamily="34" charset="0"/>
                <a:ea typeface="Calibri" pitchFamily="34" charset="-122"/>
                <a:cs typeface="Calibri" pitchFamily="34" charset="-120"/>
              </a:rPr>
              <a:t>Kanban-style planning views tied to the codebase</a:t>
            </a:r>
            <a:endParaRPr lang="en-US" sz="13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1F2328"/>
                </a:solidFill>
                <a:latin typeface="Calibri" pitchFamily="34" charset="0"/>
                <a:ea typeface="Calibri" pitchFamily="34" charset="-122"/>
                <a:cs typeface="Calibri" pitchFamily="34" charset="-120"/>
              </a:rPr>
              <a:t>Search and Documentation</a:t>
            </a:r>
            <a:endParaRPr lang="en-US" sz="1300" dirty="0"/>
          </a:p>
          <a:p>
            <a:pPr marL="0" indent="0" algn="l">
              <a:buNone/>
            </a:pPr>
            <a:r>
              <a:rPr lang="en-US" sz="1100" dirty="0">
                <a:solidFill>
                  <a:srgbClr val="656D76"/>
                </a:solidFill>
                <a:latin typeface="Calibri" pitchFamily="34" charset="0"/>
                <a:ea typeface="Calibri" pitchFamily="34" charset="-122"/>
                <a:cs typeface="Calibri" pitchFamily="34" charset="-120"/>
              </a:rPr>
              <a:t>Cross-repo search, README files, and community guides</a:t>
            </a:r>
            <a:endParaRPr lang="en-US" sz="1300" dirty="0"/>
          </a:p>
        </p:txBody>
      </p:sp>
      <p:sp>
        <p:nvSpPr>
          <p:cNvPr id="6" name="Shape 4"/>
          <p:cNvSpPr/>
          <p:nvPr/>
        </p:nvSpPr>
        <p:spPr>
          <a:xfrm>
            <a:off x="4480560" y="960120"/>
            <a:ext cx="0" cy="3657600"/>
          </a:xfrm>
          <a:prstGeom prst="line">
            <a:avLst/>
          </a:prstGeom>
          <a:noFill/>
          <a:ln w="12700">
            <a:solidFill>
              <a:srgbClr val="D1D9E0"/>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lgn="l">
              <a:buNone/>
            </a:pPr>
            <a:r>
              <a:rPr lang="en-US" sz="2800" b="1" dirty="0">
                <a:solidFill>
                  <a:srgbClr val="1F2328"/>
                </a:solidFill>
                <a:latin typeface="Calibri" pitchFamily="34" charset="0"/>
                <a:ea typeface="Calibri" pitchFamily="34" charset="-122"/>
                <a:cs typeface="Calibri" pitchFamily="34" charset="-120"/>
              </a:rPr>
              <a:t>Customer Feedback Summary</a:t>
            </a:r>
            <a:endParaRPr lang="en-US" sz="2800" dirty="0"/>
          </a:p>
        </p:txBody>
      </p:sp>
      <p:sp>
        <p:nvSpPr>
          <p:cNvPr id="3" name="Text 1"/>
          <p:cNvSpPr/>
          <p:nvPr/>
        </p:nvSpPr>
        <p:spPr>
          <a:xfrm>
            <a:off x="457200" y="868680"/>
            <a:ext cx="8229600" cy="502920"/>
          </a:xfrm>
          <a:prstGeom prst="rect">
            <a:avLst/>
          </a:prstGeom>
          <a:noFill/>
          <a:ln/>
        </p:spPr>
        <p:txBody>
          <a:bodyPr wrap="square" lIns="0" tIns="0" rIns="0" bIns="0" rtlCol="0" anchor="t"/>
          <a:lstStyle/>
          <a:p>
            <a:pPr marL="0" indent="0" algn="l">
              <a:buNone/>
            </a:pPr>
            <a:r>
              <a:rPr lang="en-US" sz="1200" i="1" dirty="0">
                <a:solidFill>
                  <a:srgbClr val="656D76"/>
                </a:solidFill>
                <a:latin typeface="Calibri" pitchFamily="34" charset="0"/>
                <a:ea typeface="Calibri" pitchFamily="34" charset="-122"/>
                <a:cs typeface="Calibri" pitchFamily="34" charset="-120"/>
              </a:rPr>
              <a:t>The five feedback questions from Module 6's virtual lab activity were applied to GitHub, with realistic user responses drawn from common community themes. The patterns across these answers shaped the prioritization decisions that follow.</a:t>
            </a:r>
            <a:endParaRPr lang="en-US" sz="1200" dirty="0"/>
          </a:p>
        </p:txBody>
      </p:sp>
      <p:sp>
        <p:nvSpPr>
          <p:cNvPr id="4" name="Text 2"/>
          <p:cNvSpPr/>
          <p:nvPr/>
        </p:nvSpPr>
        <p:spPr>
          <a:xfrm>
            <a:off x="457200" y="1508760"/>
            <a:ext cx="4114800" cy="3383280"/>
          </a:xfrm>
          <a:prstGeom prst="rect">
            <a:avLst/>
          </a:prstGeom>
          <a:noFill/>
          <a:ln/>
        </p:spPr>
        <p:txBody>
          <a:bodyPr wrap="square" rtlCol="0" anchor="t"/>
          <a:lstStyle/>
          <a:p>
            <a:pPr marL="0" indent="0" algn="l">
              <a:buNone/>
            </a:pPr>
            <a:r>
              <a:rPr lang="en-US" sz="1200" b="1" dirty="0">
                <a:solidFill>
                  <a:srgbClr val="8250DF"/>
                </a:solidFill>
                <a:latin typeface="Calibri" pitchFamily="34" charset="0"/>
                <a:ea typeface="Calibri" pitchFamily="34" charset="-122"/>
                <a:cs typeface="Calibri" pitchFamily="34" charset="-120"/>
              </a:rPr>
              <a:t>Q1. What features do users find most valuable?</a:t>
            </a:r>
            <a:endParaRPr lang="en-US" sz="1200" dirty="0"/>
          </a:p>
          <a:p>
            <a:pPr marL="0" indent="0" algn="l">
              <a:buNone/>
            </a:pPr>
            <a:r>
              <a:rPr lang="en-US" sz="1100" dirty="0">
                <a:solidFill>
                  <a:srgbClr val="424A53"/>
                </a:solidFill>
                <a:latin typeface="Calibri" pitchFamily="34" charset="0"/>
                <a:ea typeface="Calibri" pitchFamily="34" charset="-122"/>
                <a:cs typeface="Calibri" pitchFamily="34" charset="-120"/>
              </a:rPr>
              <a:t>Pull requests and code review come up first in nearly every developer survey, followed by version control and issue tracking. These three form the daily backbone of how teams collaborate.</a:t>
            </a:r>
          </a:p>
          <a:p>
            <a:pPr marL="0" indent="0" algn="l">
              <a:buNone/>
            </a:pPr>
            <a:endParaRPr lang="en-US" sz="12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lgn="l">
              <a:buNone/>
            </a:pPr>
            <a:r>
              <a:rPr lang="en-US" sz="1200" b="1" dirty="0">
                <a:solidFill>
                  <a:srgbClr val="8250DF"/>
                </a:solidFill>
                <a:latin typeface="Calibri" pitchFamily="34" charset="0"/>
                <a:ea typeface="Calibri" pitchFamily="34" charset="-122"/>
                <a:cs typeface="Calibri" pitchFamily="34" charset="-120"/>
              </a:rPr>
              <a:t>Q2. What features are missing or could be improved?</a:t>
            </a:r>
            <a:endParaRPr lang="en-US" sz="1200" dirty="0"/>
          </a:p>
          <a:p>
            <a:pPr marL="0" indent="0" algn="l">
              <a:buNone/>
            </a:pPr>
            <a:r>
              <a:rPr lang="en-US" sz="1100" dirty="0">
                <a:solidFill>
                  <a:srgbClr val="424A53"/>
                </a:solidFill>
                <a:latin typeface="Calibri" pitchFamily="34" charset="0"/>
                <a:ea typeface="Calibri" pitchFamily="34" charset="-122"/>
                <a:cs typeface="Calibri" pitchFamily="34" charset="-120"/>
              </a:rPr>
              <a:t>Cross-repo search, onboarding flows for beginners, and the setup experience for GitHub Actions. Users describe the platform as powerful but rough around the edges for newcomers.</a:t>
            </a:r>
          </a:p>
          <a:p>
            <a:pPr marL="0" indent="0" algn="l">
              <a:buNone/>
            </a:pPr>
            <a:endParaRPr lang="en-US" sz="12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lgn="l">
              <a:buNone/>
            </a:pPr>
            <a:r>
              <a:rPr lang="en-US" sz="1200" b="1" dirty="0">
                <a:solidFill>
                  <a:srgbClr val="8250DF"/>
                </a:solidFill>
                <a:latin typeface="Calibri" pitchFamily="34" charset="0"/>
                <a:ea typeface="Calibri" pitchFamily="34" charset="-122"/>
                <a:cs typeface="Calibri" pitchFamily="34" charset="-120"/>
              </a:rPr>
              <a:t>Q3. How do users feel about the UI/UX?</a:t>
            </a:r>
            <a:endParaRPr lang="en-US" sz="1200" dirty="0"/>
          </a:p>
          <a:p>
            <a:pPr marL="0" indent="0" algn="l">
              <a:buNone/>
            </a:pPr>
            <a:r>
              <a:rPr lang="en-US" sz="1100" dirty="0">
                <a:solidFill>
                  <a:srgbClr val="424A53"/>
                </a:solidFill>
                <a:latin typeface="Calibri" pitchFamily="34" charset="0"/>
                <a:ea typeface="Calibri" pitchFamily="34" charset="-122"/>
                <a:cs typeface="Calibri" pitchFamily="34" charset="-120"/>
              </a:rPr>
              <a:t>Generally clean and functional once you know your way around. New users often find the navigation overwhelming, and notification settings draw frequent complaints.</a:t>
            </a:r>
            <a:endParaRPr lang="en-US" sz="1200" dirty="0"/>
          </a:p>
        </p:txBody>
      </p:sp>
      <p:sp>
        <p:nvSpPr>
          <p:cNvPr id="5" name="Text 3"/>
          <p:cNvSpPr/>
          <p:nvPr/>
        </p:nvSpPr>
        <p:spPr>
          <a:xfrm>
            <a:off x="4754880" y="1508760"/>
            <a:ext cx="3931920" cy="3383280"/>
          </a:xfrm>
          <a:prstGeom prst="rect">
            <a:avLst/>
          </a:prstGeom>
          <a:noFill/>
          <a:ln/>
        </p:spPr>
        <p:txBody>
          <a:bodyPr wrap="square" rtlCol="0" anchor="t"/>
          <a:lstStyle/>
          <a:p>
            <a:pPr marL="0" indent="0" algn="l">
              <a:buNone/>
            </a:pPr>
            <a:r>
              <a:rPr lang="en-US" sz="1200" b="1" dirty="0">
                <a:solidFill>
                  <a:srgbClr val="8250DF"/>
                </a:solidFill>
                <a:latin typeface="Calibri" pitchFamily="34" charset="0"/>
                <a:ea typeface="Calibri" pitchFamily="34" charset="-122"/>
                <a:cs typeface="Calibri" pitchFamily="34" charset="-120"/>
              </a:rPr>
              <a:t>Q4. Are there any recurring issues or bugs?</a:t>
            </a:r>
            <a:endParaRPr lang="en-US" sz="1200" dirty="0"/>
          </a:p>
          <a:p>
            <a:pPr marL="0" indent="0" algn="l">
              <a:buNone/>
            </a:pPr>
            <a:r>
              <a:rPr lang="en-US" sz="1100" dirty="0">
                <a:solidFill>
                  <a:srgbClr val="424A53"/>
                </a:solidFill>
                <a:latin typeface="Calibri" pitchFamily="34" charset="0"/>
                <a:ea typeface="Calibri" pitchFamily="34" charset="-122"/>
                <a:cs typeface="Calibri" pitchFamily="34" charset="-120"/>
              </a:rPr>
              <a:t>Slow loading on large pull request diffs, occasional Actions runner queue delays during peak hours, and notification reliability issues are the most common pain points.</a:t>
            </a:r>
          </a:p>
          <a:p>
            <a:pPr marL="0" indent="0" algn="l">
              <a:buNone/>
            </a:pPr>
            <a:endParaRPr lang="en-US" sz="12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lgn="l">
              <a:buNone/>
            </a:pPr>
            <a:r>
              <a:rPr lang="en-US" sz="1200" b="1" dirty="0">
                <a:solidFill>
                  <a:srgbClr val="8250DF"/>
                </a:solidFill>
                <a:latin typeface="Calibri" pitchFamily="34" charset="0"/>
                <a:ea typeface="Calibri" pitchFamily="34" charset="-122"/>
                <a:cs typeface="Calibri" pitchFamily="34" charset="-120"/>
              </a:rPr>
              <a:t>Q5. What suggestions do users have for new features?</a:t>
            </a:r>
            <a:endParaRPr lang="en-US" sz="1200" dirty="0"/>
          </a:p>
          <a:p>
            <a:pPr marL="0" indent="0" algn="l">
              <a:buNone/>
            </a:pPr>
            <a:r>
              <a:rPr lang="en-US" sz="1100" dirty="0">
                <a:solidFill>
                  <a:srgbClr val="424A53"/>
                </a:solidFill>
                <a:latin typeface="Calibri" pitchFamily="34" charset="0"/>
                <a:ea typeface="Calibri" pitchFamily="34" charset="-122"/>
                <a:cs typeface="Calibri" pitchFamily="34" charset="-120"/>
              </a:rPr>
              <a:t>Interactive onboarding tutorials, simplified Actions setup, improved search filters across repositories, and better project board templates.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lgn="l">
              <a:buNone/>
            </a:pPr>
            <a:r>
              <a:rPr lang="en-US" sz="2800" b="1" dirty="0">
                <a:solidFill>
                  <a:srgbClr val="1F2328"/>
                </a:solidFill>
                <a:latin typeface="Calibri" pitchFamily="34" charset="0"/>
                <a:ea typeface="Calibri" pitchFamily="34" charset="-122"/>
                <a:cs typeface="Calibri" pitchFamily="34" charset="-120"/>
              </a:rPr>
              <a:t>Choosing the MoSCoW Framework</a:t>
            </a:r>
            <a:endParaRPr lang="en-US" sz="2800" dirty="0"/>
          </a:p>
        </p:txBody>
      </p:sp>
      <p:sp>
        <p:nvSpPr>
          <p:cNvPr id="3" name="Text 1"/>
          <p:cNvSpPr/>
          <p:nvPr/>
        </p:nvSpPr>
        <p:spPr>
          <a:xfrm>
            <a:off x="457200" y="914400"/>
            <a:ext cx="8229600" cy="1280160"/>
          </a:xfrm>
          <a:prstGeom prst="rect">
            <a:avLst/>
          </a:prstGeom>
          <a:noFill/>
          <a:ln/>
        </p:spPr>
        <p:txBody>
          <a:bodyPr wrap="square" rtlCol="0" anchor="t"/>
          <a:lstStyle/>
          <a:p>
            <a:pPr marL="0" indent="0" algn="l">
              <a:spcAft>
                <a:spcPts val="600"/>
              </a:spcAft>
              <a:buNone/>
            </a:pPr>
            <a:r>
              <a:rPr lang="en-US" sz="1300" dirty="0">
                <a:solidFill>
                  <a:srgbClr val="424A53"/>
                </a:solidFill>
                <a:latin typeface="Calibri" pitchFamily="34" charset="0"/>
                <a:ea typeface="Calibri" pitchFamily="34" charset="-122"/>
                <a:cs typeface="Calibri" pitchFamily="34" charset="-120"/>
              </a:rPr>
              <a:t>MoSCoW works well for GitHub because the platform has a wide feature surface and a release cadence that benefits from clear stakeholder communication. Software development expert Dai Clegg created the framework while at Oracle to help teams prioritize during time-boxed releases (MoSCoW Prioritization, 2022). For a tool with millions of daily users and a constant stream of feedback, the four buckets give a fast way to separate what's essential from what's nice-to-have without getting bogged down in deep scoring debates.</a:t>
            </a:r>
            <a:endParaRPr lang="en-US" sz="1300" dirty="0"/>
          </a:p>
        </p:txBody>
      </p:sp>
      <p:sp>
        <p:nvSpPr>
          <p:cNvPr id="4" name="Text 2"/>
          <p:cNvSpPr/>
          <p:nvPr/>
        </p:nvSpPr>
        <p:spPr>
          <a:xfrm>
            <a:off x="457200" y="2194560"/>
            <a:ext cx="8229600" cy="320040"/>
          </a:xfrm>
          <a:prstGeom prst="rect">
            <a:avLst/>
          </a:prstGeom>
          <a:noFill/>
          <a:ln/>
        </p:spPr>
        <p:txBody>
          <a:bodyPr wrap="square" lIns="0" tIns="0" rIns="0" bIns="0" rtlCol="0" anchor="ctr"/>
          <a:lstStyle/>
          <a:p>
            <a:pPr marL="0" indent="0" algn="l">
              <a:buNone/>
            </a:pPr>
            <a:r>
              <a:rPr lang="en-US" sz="1400" b="1" dirty="0">
                <a:solidFill>
                  <a:srgbClr val="1F2328"/>
                </a:solidFill>
                <a:latin typeface="Calibri" pitchFamily="34" charset="0"/>
                <a:ea typeface="Calibri" pitchFamily="34" charset="-122"/>
                <a:cs typeface="Calibri" pitchFamily="34" charset="-120"/>
              </a:rPr>
              <a:t>The Four MoSCoW Categories</a:t>
            </a:r>
            <a:endParaRPr lang="en-US" sz="1400" dirty="0"/>
          </a:p>
        </p:txBody>
      </p:sp>
      <p:sp>
        <p:nvSpPr>
          <p:cNvPr id="5" name="Shape 3"/>
          <p:cNvSpPr/>
          <p:nvPr/>
        </p:nvSpPr>
        <p:spPr>
          <a:xfrm>
            <a:off x="457200" y="2606040"/>
            <a:ext cx="2057400" cy="2103120"/>
          </a:xfrm>
          <a:prstGeom prst="rect">
            <a:avLst/>
          </a:prstGeom>
          <a:solidFill>
            <a:srgbClr val="DAFBE1"/>
          </a:solidFill>
          <a:ln w="12700">
            <a:solidFill>
              <a:srgbClr val="1F883D"/>
            </a:solidFill>
            <a:prstDash val="solid"/>
          </a:ln>
        </p:spPr>
        <p:txBody>
          <a:bodyPr/>
          <a:lstStyle/>
          <a:p>
            <a:endParaRPr lang="en-US"/>
          </a:p>
        </p:txBody>
      </p:sp>
      <p:sp>
        <p:nvSpPr>
          <p:cNvPr id="6" name="Shape 4"/>
          <p:cNvSpPr/>
          <p:nvPr/>
        </p:nvSpPr>
        <p:spPr>
          <a:xfrm>
            <a:off x="640080" y="2788920"/>
            <a:ext cx="502920" cy="502920"/>
          </a:xfrm>
          <a:prstGeom prst="ellipse">
            <a:avLst/>
          </a:prstGeom>
          <a:solidFill>
            <a:srgbClr val="1F883D"/>
          </a:solidFill>
          <a:ln w="12700">
            <a:solidFill>
              <a:srgbClr val="1F883D"/>
            </a:solidFill>
            <a:prstDash val="solid"/>
          </a:ln>
        </p:spPr>
        <p:txBody>
          <a:bodyPr/>
          <a:lstStyle/>
          <a:p>
            <a:endParaRPr lang="en-US"/>
          </a:p>
        </p:txBody>
      </p:sp>
      <p:sp>
        <p:nvSpPr>
          <p:cNvPr id="7" name="Text 5"/>
          <p:cNvSpPr/>
          <p:nvPr/>
        </p:nvSpPr>
        <p:spPr>
          <a:xfrm>
            <a:off x="640080" y="27889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8" name="Text 6"/>
          <p:cNvSpPr/>
          <p:nvPr/>
        </p:nvSpPr>
        <p:spPr>
          <a:xfrm>
            <a:off x="640080" y="3383280"/>
            <a:ext cx="1691640" cy="365760"/>
          </a:xfrm>
          <a:prstGeom prst="rect">
            <a:avLst/>
          </a:prstGeom>
          <a:noFill/>
          <a:ln/>
        </p:spPr>
        <p:txBody>
          <a:bodyPr wrap="square" lIns="0" tIns="0" rIns="0" bIns="0" rtlCol="0" anchor="ctr"/>
          <a:lstStyle/>
          <a:p>
            <a:pPr marL="0" indent="0" algn="l">
              <a:buNone/>
            </a:pPr>
            <a:r>
              <a:rPr lang="en-US" sz="1600" b="1" dirty="0">
                <a:solidFill>
                  <a:srgbClr val="1F883D"/>
                </a:solidFill>
                <a:latin typeface="Calibri" pitchFamily="34" charset="0"/>
                <a:ea typeface="Calibri" pitchFamily="34" charset="-122"/>
                <a:cs typeface="Calibri" pitchFamily="34" charset="-120"/>
              </a:rPr>
              <a:t>Must-Have</a:t>
            </a:r>
            <a:endParaRPr lang="en-US" sz="1600" dirty="0"/>
          </a:p>
        </p:txBody>
      </p:sp>
      <p:sp>
        <p:nvSpPr>
          <p:cNvPr id="9" name="Text 7"/>
          <p:cNvSpPr/>
          <p:nvPr/>
        </p:nvSpPr>
        <p:spPr>
          <a:xfrm>
            <a:off x="640080" y="3794760"/>
            <a:ext cx="1783080" cy="822960"/>
          </a:xfrm>
          <a:prstGeom prst="rect">
            <a:avLst/>
          </a:prstGeom>
          <a:noFill/>
          <a:ln/>
        </p:spPr>
        <p:txBody>
          <a:bodyPr wrap="square" lIns="0" tIns="0" rIns="0" bIns="0" rtlCol="0" anchor="t"/>
          <a:lstStyle/>
          <a:p>
            <a:pPr marL="0" indent="0" algn="l">
              <a:buNone/>
            </a:pPr>
            <a:r>
              <a:rPr lang="en-US" sz="1200" dirty="0">
                <a:solidFill>
                  <a:srgbClr val="1F2328"/>
                </a:solidFill>
                <a:latin typeface="Calibri" pitchFamily="34" charset="0"/>
                <a:ea typeface="Calibri" pitchFamily="34" charset="-122"/>
                <a:cs typeface="Calibri" pitchFamily="34" charset="-120"/>
              </a:rPr>
              <a:t>Non-negotiable features the product cannot ship without.</a:t>
            </a:r>
            <a:endParaRPr lang="en-US" sz="1200" dirty="0"/>
          </a:p>
        </p:txBody>
      </p:sp>
      <p:sp>
        <p:nvSpPr>
          <p:cNvPr id="10" name="Shape 8"/>
          <p:cNvSpPr/>
          <p:nvPr/>
        </p:nvSpPr>
        <p:spPr>
          <a:xfrm>
            <a:off x="2606040" y="2606040"/>
            <a:ext cx="2057400" cy="2103120"/>
          </a:xfrm>
          <a:prstGeom prst="rect">
            <a:avLst/>
          </a:prstGeom>
          <a:solidFill>
            <a:srgbClr val="FFF8C5"/>
          </a:solidFill>
          <a:ln w="12700">
            <a:solidFill>
              <a:srgbClr val="BF8700"/>
            </a:solidFill>
            <a:prstDash val="solid"/>
          </a:ln>
        </p:spPr>
        <p:txBody>
          <a:bodyPr/>
          <a:lstStyle/>
          <a:p>
            <a:endParaRPr lang="en-US"/>
          </a:p>
        </p:txBody>
      </p:sp>
      <p:sp>
        <p:nvSpPr>
          <p:cNvPr id="11" name="Shape 9"/>
          <p:cNvSpPr/>
          <p:nvPr/>
        </p:nvSpPr>
        <p:spPr>
          <a:xfrm>
            <a:off x="2788920" y="2788920"/>
            <a:ext cx="502920" cy="502920"/>
          </a:xfrm>
          <a:prstGeom prst="ellipse">
            <a:avLst/>
          </a:prstGeom>
          <a:solidFill>
            <a:srgbClr val="BF8700"/>
          </a:solidFill>
          <a:ln w="12700">
            <a:solidFill>
              <a:srgbClr val="BF8700"/>
            </a:solidFill>
            <a:prstDash val="solid"/>
          </a:ln>
        </p:spPr>
        <p:txBody>
          <a:bodyPr/>
          <a:lstStyle/>
          <a:p>
            <a:endParaRPr lang="en-US"/>
          </a:p>
        </p:txBody>
      </p:sp>
      <p:sp>
        <p:nvSpPr>
          <p:cNvPr id="12" name="Text 10"/>
          <p:cNvSpPr/>
          <p:nvPr/>
        </p:nvSpPr>
        <p:spPr>
          <a:xfrm>
            <a:off x="2788920" y="27889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a:t>
            </a:r>
            <a:endParaRPr lang="en-US" sz="2200" dirty="0"/>
          </a:p>
        </p:txBody>
      </p:sp>
      <p:sp>
        <p:nvSpPr>
          <p:cNvPr id="13" name="Text 11"/>
          <p:cNvSpPr/>
          <p:nvPr/>
        </p:nvSpPr>
        <p:spPr>
          <a:xfrm>
            <a:off x="2788920" y="3383280"/>
            <a:ext cx="1691640" cy="365760"/>
          </a:xfrm>
          <a:prstGeom prst="rect">
            <a:avLst/>
          </a:prstGeom>
          <a:noFill/>
          <a:ln/>
        </p:spPr>
        <p:txBody>
          <a:bodyPr wrap="square" lIns="0" tIns="0" rIns="0" bIns="0" rtlCol="0" anchor="ctr"/>
          <a:lstStyle/>
          <a:p>
            <a:pPr marL="0" indent="0" algn="l">
              <a:buNone/>
            </a:pPr>
            <a:r>
              <a:rPr lang="en-US" sz="1600" b="1" dirty="0">
                <a:solidFill>
                  <a:srgbClr val="BF8700"/>
                </a:solidFill>
                <a:latin typeface="Calibri" pitchFamily="34" charset="0"/>
                <a:ea typeface="Calibri" pitchFamily="34" charset="-122"/>
                <a:cs typeface="Calibri" pitchFamily="34" charset="-120"/>
              </a:rPr>
              <a:t>Should-Have</a:t>
            </a:r>
            <a:endParaRPr lang="en-US" sz="1600" dirty="0"/>
          </a:p>
        </p:txBody>
      </p:sp>
      <p:sp>
        <p:nvSpPr>
          <p:cNvPr id="14" name="Text 12"/>
          <p:cNvSpPr/>
          <p:nvPr/>
        </p:nvSpPr>
        <p:spPr>
          <a:xfrm>
            <a:off x="2788920" y="3794760"/>
            <a:ext cx="1783080" cy="822960"/>
          </a:xfrm>
          <a:prstGeom prst="rect">
            <a:avLst/>
          </a:prstGeom>
          <a:noFill/>
          <a:ln/>
        </p:spPr>
        <p:txBody>
          <a:bodyPr wrap="square" lIns="0" tIns="0" rIns="0" bIns="0" rtlCol="0" anchor="t"/>
          <a:lstStyle/>
          <a:p>
            <a:pPr marL="0" indent="0" algn="l">
              <a:buNone/>
            </a:pPr>
            <a:r>
              <a:rPr lang="en-US" sz="1200" dirty="0">
                <a:solidFill>
                  <a:srgbClr val="1F2328"/>
                </a:solidFill>
                <a:latin typeface="Calibri" pitchFamily="34" charset="0"/>
                <a:ea typeface="Calibri" pitchFamily="34" charset="-122"/>
                <a:cs typeface="Calibri" pitchFamily="34" charset="-120"/>
              </a:rPr>
              <a:t>Important features that add real value but can wait if needed.</a:t>
            </a:r>
            <a:endParaRPr lang="en-US" sz="1200" dirty="0"/>
          </a:p>
        </p:txBody>
      </p:sp>
      <p:sp>
        <p:nvSpPr>
          <p:cNvPr id="15" name="Shape 13"/>
          <p:cNvSpPr/>
          <p:nvPr/>
        </p:nvSpPr>
        <p:spPr>
          <a:xfrm>
            <a:off x="4754880" y="2606040"/>
            <a:ext cx="2057400" cy="2103120"/>
          </a:xfrm>
          <a:prstGeom prst="rect">
            <a:avLst/>
          </a:prstGeom>
          <a:solidFill>
            <a:srgbClr val="DDF4FF"/>
          </a:solidFill>
          <a:ln w="12700">
            <a:solidFill>
              <a:srgbClr val="0969DA"/>
            </a:solidFill>
            <a:prstDash val="solid"/>
          </a:ln>
        </p:spPr>
        <p:txBody>
          <a:bodyPr/>
          <a:lstStyle/>
          <a:p>
            <a:endParaRPr lang="en-US"/>
          </a:p>
        </p:txBody>
      </p:sp>
      <p:sp>
        <p:nvSpPr>
          <p:cNvPr id="16" name="Shape 14"/>
          <p:cNvSpPr/>
          <p:nvPr/>
        </p:nvSpPr>
        <p:spPr>
          <a:xfrm>
            <a:off x="4937760" y="2788920"/>
            <a:ext cx="502920" cy="502920"/>
          </a:xfrm>
          <a:prstGeom prst="ellipse">
            <a:avLst/>
          </a:prstGeom>
          <a:solidFill>
            <a:srgbClr val="0969DA"/>
          </a:solidFill>
          <a:ln w="12700">
            <a:solidFill>
              <a:srgbClr val="0969DA"/>
            </a:solidFill>
            <a:prstDash val="solid"/>
          </a:ln>
        </p:spPr>
        <p:txBody>
          <a:bodyPr/>
          <a:lstStyle/>
          <a:p>
            <a:endParaRPr lang="en-US"/>
          </a:p>
        </p:txBody>
      </p:sp>
      <p:sp>
        <p:nvSpPr>
          <p:cNvPr id="17" name="Text 15"/>
          <p:cNvSpPr/>
          <p:nvPr/>
        </p:nvSpPr>
        <p:spPr>
          <a:xfrm>
            <a:off x="4937760" y="27889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18" name="Text 16"/>
          <p:cNvSpPr/>
          <p:nvPr/>
        </p:nvSpPr>
        <p:spPr>
          <a:xfrm>
            <a:off x="4937760" y="3383280"/>
            <a:ext cx="1691640" cy="365760"/>
          </a:xfrm>
          <a:prstGeom prst="rect">
            <a:avLst/>
          </a:prstGeom>
          <a:noFill/>
          <a:ln/>
        </p:spPr>
        <p:txBody>
          <a:bodyPr wrap="square" lIns="0" tIns="0" rIns="0" bIns="0" rtlCol="0" anchor="ctr"/>
          <a:lstStyle/>
          <a:p>
            <a:pPr marL="0" indent="0" algn="l">
              <a:buNone/>
            </a:pPr>
            <a:r>
              <a:rPr lang="en-US" sz="1600" b="1" dirty="0">
                <a:solidFill>
                  <a:srgbClr val="0969DA"/>
                </a:solidFill>
                <a:latin typeface="Calibri" pitchFamily="34" charset="0"/>
                <a:ea typeface="Calibri" pitchFamily="34" charset="-122"/>
                <a:cs typeface="Calibri" pitchFamily="34" charset="-120"/>
              </a:rPr>
              <a:t>Could-Have</a:t>
            </a:r>
            <a:endParaRPr lang="en-US" sz="1600" dirty="0"/>
          </a:p>
        </p:txBody>
      </p:sp>
      <p:sp>
        <p:nvSpPr>
          <p:cNvPr id="19" name="Text 17"/>
          <p:cNvSpPr/>
          <p:nvPr/>
        </p:nvSpPr>
        <p:spPr>
          <a:xfrm>
            <a:off x="4937760" y="3794760"/>
            <a:ext cx="1783080" cy="822960"/>
          </a:xfrm>
          <a:prstGeom prst="rect">
            <a:avLst/>
          </a:prstGeom>
          <a:noFill/>
          <a:ln/>
        </p:spPr>
        <p:txBody>
          <a:bodyPr wrap="square" lIns="0" tIns="0" rIns="0" bIns="0" rtlCol="0" anchor="t"/>
          <a:lstStyle/>
          <a:p>
            <a:pPr marL="0" indent="0" algn="l">
              <a:buNone/>
            </a:pPr>
            <a:r>
              <a:rPr lang="en-US" sz="1200" dirty="0">
                <a:solidFill>
                  <a:srgbClr val="1F2328"/>
                </a:solidFill>
                <a:latin typeface="Calibri" pitchFamily="34" charset="0"/>
                <a:ea typeface="Calibri" pitchFamily="34" charset="-122"/>
                <a:cs typeface="Calibri" pitchFamily="34" charset="-120"/>
              </a:rPr>
              <a:t>Nice-to-have improvements with smaller impact if left out.</a:t>
            </a:r>
            <a:endParaRPr lang="en-US" sz="1200" dirty="0"/>
          </a:p>
        </p:txBody>
      </p:sp>
      <p:sp>
        <p:nvSpPr>
          <p:cNvPr id="20" name="Shape 18"/>
          <p:cNvSpPr/>
          <p:nvPr/>
        </p:nvSpPr>
        <p:spPr>
          <a:xfrm>
            <a:off x="6903720" y="2606040"/>
            <a:ext cx="2057400" cy="2103120"/>
          </a:xfrm>
          <a:prstGeom prst="rect">
            <a:avLst/>
          </a:prstGeom>
          <a:solidFill>
            <a:srgbClr val="FFEBE9"/>
          </a:solidFill>
          <a:ln w="12700">
            <a:solidFill>
              <a:srgbClr val="CF222E"/>
            </a:solidFill>
            <a:prstDash val="solid"/>
          </a:ln>
        </p:spPr>
        <p:txBody>
          <a:bodyPr/>
          <a:lstStyle/>
          <a:p>
            <a:endParaRPr lang="en-US"/>
          </a:p>
        </p:txBody>
      </p:sp>
      <p:sp>
        <p:nvSpPr>
          <p:cNvPr id="21" name="Shape 19"/>
          <p:cNvSpPr/>
          <p:nvPr/>
        </p:nvSpPr>
        <p:spPr>
          <a:xfrm>
            <a:off x="7086600" y="2788920"/>
            <a:ext cx="502920" cy="502920"/>
          </a:xfrm>
          <a:prstGeom prst="ellipse">
            <a:avLst/>
          </a:prstGeom>
          <a:solidFill>
            <a:srgbClr val="CF222E"/>
          </a:solidFill>
          <a:ln w="12700">
            <a:solidFill>
              <a:srgbClr val="CF222E"/>
            </a:solidFill>
            <a:prstDash val="solid"/>
          </a:ln>
        </p:spPr>
        <p:txBody>
          <a:bodyPr/>
          <a:lstStyle/>
          <a:p>
            <a:endParaRPr lang="en-US"/>
          </a:p>
        </p:txBody>
      </p:sp>
      <p:sp>
        <p:nvSpPr>
          <p:cNvPr id="22" name="Text 20"/>
          <p:cNvSpPr/>
          <p:nvPr/>
        </p:nvSpPr>
        <p:spPr>
          <a:xfrm>
            <a:off x="7086600" y="27889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W</a:t>
            </a:r>
            <a:endParaRPr lang="en-US" sz="2200" dirty="0"/>
          </a:p>
        </p:txBody>
      </p:sp>
      <p:sp>
        <p:nvSpPr>
          <p:cNvPr id="23" name="Text 21"/>
          <p:cNvSpPr/>
          <p:nvPr/>
        </p:nvSpPr>
        <p:spPr>
          <a:xfrm>
            <a:off x="7086600" y="3383280"/>
            <a:ext cx="1691640" cy="365760"/>
          </a:xfrm>
          <a:prstGeom prst="rect">
            <a:avLst/>
          </a:prstGeom>
          <a:noFill/>
          <a:ln/>
        </p:spPr>
        <p:txBody>
          <a:bodyPr wrap="square" lIns="0" tIns="0" rIns="0" bIns="0" rtlCol="0" anchor="ctr"/>
          <a:lstStyle/>
          <a:p>
            <a:pPr marL="0" indent="0" algn="l">
              <a:buNone/>
            </a:pPr>
            <a:r>
              <a:rPr lang="en-US" sz="1600" b="1" dirty="0">
                <a:solidFill>
                  <a:srgbClr val="CF222E"/>
                </a:solidFill>
                <a:latin typeface="Calibri" pitchFamily="34" charset="0"/>
                <a:ea typeface="Calibri" pitchFamily="34" charset="-122"/>
                <a:cs typeface="Calibri" pitchFamily="34" charset="-120"/>
              </a:rPr>
              <a:t>Won't-Have</a:t>
            </a:r>
            <a:endParaRPr lang="en-US" sz="1600" dirty="0"/>
          </a:p>
        </p:txBody>
      </p:sp>
      <p:sp>
        <p:nvSpPr>
          <p:cNvPr id="24" name="Text 22"/>
          <p:cNvSpPr/>
          <p:nvPr/>
        </p:nvSpPr>
        <p:spPr>
          <a:xfrm>
            <a:off x="7086600" y="3794760"/>
            <a:ext cx="1691640" cy="822960"/>
          </a:xfrm>
          <a:prstGeom prst="rect">
            <a:avLst/>
          </a:prstGeom>
          <a:noFill/>
          <a:ln/>
        </p:spPr>
        <p:txBody>
          <a:bodyPr wrap="square" lIns="0" tIns="0" rIns="0" bIns="0" rtlCol="0" anchor="t"/>
          <a:lstStyle/>
          <a:p>
            <a:pPr marL="0" indent="0" algn="l">
              <a:buNone/>
            </a:pPr>
            <a:r>
              <a:rPr lang="en-US" sz="1200" dirty="0">
                <a:solidFill>
                  <a:srgbClr val="1F2328"/>
                </a:solidFill>
                <a:latin typeface="Calibri" pitchFamily="34" charset="0"/>
                <a:ea typeface="Calibri" pitchFamily="34" charset="-122"/>
                <a:cs typeface="Calibri" pitchFamily="34" charset="-120"/>
              </a:rPr>
              <a:t>Features intentionally excluded from this release cycle.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lIns="0" tIns="0" rIns="0" bIns="0" rtlCol="0" anchor="ctr"/>
          <a:lstStyle/>
          <a:p>
            <a:pPr marL="0" indent="0" algn="l">
              <a:buNone/>
            </a:pPr>
            <a:r>
              <a:rPr lang="en-US" sz="2600" b="1" dirty="0">
                <a:solidFill>
                  <a:srgbClr val="1F2328"/>
                </a:solidFill>
                <a:latin typeface="Calibri" pitchFamily="34" charset="0"/>
                <a:ea typeface="Calibri" pitchFamily="34" charset="-122"/>
                <a:cs typeface="Calibri" pitchFamily="34" charset="-120"/>
              </a:rPr>
              <a:t>GitHub Features Prioritized Using MoSCoW</a:t>
            </a:r>
            <a:endParaRPr lang="en-US" sz="26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marL="0" indent="0" algn="l">
              <a:buNone/>
            </a:pPr>
            <a:r>
              <a:rPr lang="en-US" sz="1200" i="1" dirty="0">
                <a:solidFill>
                  <a:srgbClr val="656D76"/>
                </a:solidFill>
                <a:latin typeface="Calibri" pitchFamily="34" charset="0"/>
                <a:ea typeface="Calibri" pitchFamily="34" charset="-122"/>
                <a:cs typeface="Calibri" pitchFamily="34" charset="-120"/>
              </a:rPr>
              <a:t>Eight features categorized based on customer feedback themes</a:t>
            </a:r>
            <a:endParaRPr lang="en-US" sz="1200" dirty="0"/>
          </a:p>
        </p:txBody>
      </p:sp>
      <p:sp>
        <p:nvSpPr>
          <p:cNvPr id="4" name="Shape 2"/>
          <p:cNvSpPr/>
          <p:nvPr/>
        </p:nvSpPr>
        <p:spPr>
          <a:xfrm>
            <a:off x="365760" y="1097280"/>
            <a:ext cx="4251960" cy="1874520"/>
          </a:xfrm>
          <a:prstGeom prst="rect">
            <a:avLst/>
          </a:prstGeom>
          <a:solidFill>
            <a:srgbClr val="DAFBE1"/>
          </a:solidFill>
          <a:ln w="12700">
            <a:solidFill>
              <a:srgbClr val="1F883D"/>
            </a:solidFill>
            <a:prstDash val="solid"/>
          </a:ln>
        </p:spPr>
        <p:txBody>
          <a:bodyPr/>
          <a:lstStyle/>
          <a:p>
            <a:endParaRPr lang="en-US"/>
          </a:p>
        </p:txBody>
      </p:sp>
      <p:sp>
        <p:nvSpPr>
          <p:cNvPr id="5" name="Shape 3"/>
          <p:cNvSpPr/>
          <p:nvPr/>
        </p:nvSpPr>
        <p:spPr>
          <a:xfrm>
            <a:off x="502920" y="1234440"/>
            <a:ext cx="457200" cy="457200"/>
          </a:xfrm>
          <a:prstGeom prst="ellipse">
            <a:avLst/>
          </a:prstGeom>
          <a:solidFill>
            <a:srgbClr val="1F883D"/>
          </a:solidFill>
          <a:ln w="12700">
            <a:solidFill>
              <a:srgbClr val="1F883D"/>
            </a:solidFill>
            <a:prstDash val="solid"/>
          </a:ln>
        </p:spPr>
        <p:txBody>
          <a:bodyPr/>
          <a:lstStyle/>
          <a:p>
            <a:endParaRPr lang="en-US"/>
          </a:p>
        </p:txBody>
      </p:sp>
      <p:sp>
        <p:nvSpPr>
          <p:cNvPr id="6" name="Text 4"/>
          <p:cNvSpPr/>
          <p:nvPr/>
        </p:nvSpPr>
        <p:spPr>
          <a:xfrm>
            <a:off x="502920" y="123444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7" name="Text 5"/>
          <p:cNvSpPr/>
          <p:nvPr/>
        </p:nvSpPr>
        <p:spPr>
          <a:xfrm>
            <a:off x="1051560" y="1234440"/>
            <a:ext cx="3429000" cy="457200"/>
          </a:xfrm>
          <a:prstGeom prst="rect">
            <a:avLst/>
          </a:prstGeom>
          <a:noFill/>
          <a:ln/>
        </p:spPr>
        <p:txBody>
          <a:bodyPr wrap="square" lIns="0" tIns="0" rIns="0" bIns="0" rtlCol="0" anchor="ctr"/>
          <a:lstStyle/>
          <a:p>
            <a:pPr marL="0" indent="0" algn="l">
              <a:buNone/>
            </a:pPr>
            <a:r>
              <a:rPr lang="en-US" sz="1600" b="1" dirty="0">
                <a:solidFill>
                  <a:srgbClr val="1F883D"/>
                </a:solidFill>
                <a:latin typeface="Calibri" pitchFamily="34" charset="0"/>
                <a:ea typeface="Calibri" pitchFamily="34" charset="-122"/>
                <a:cs typeface="Calibri" pitchFamily="34" charset="-120"/>
              </a:rPr>
              <a:t>Must-Have</a:t>
            </a:r>
            <a:endParaRPr lang="en-US" sz="1600" dirty="0"/>
          </a:p>
        </p:txBody>
      </p:sp>
      <p:sp>
        <p:nvSpPr>
          <p:cNvPr id="8" name="Text 6"/>
          <p:cNvSpPr/>
          <p:nvPr/>
        </p:nvSpPr>
        <p:spPr>
          <a:xfrm>
            <a:off x="594360" y="1682646"/>
            <a:ext cx="3977640" cy="1280160"/>
          </a:xfrm>
          <a:prstGeom prst="rect">
            <a:avLst/>
          </a:prstGeom>
          <a:noFill/>
          <a:ln/>
        </p:spPr>
        <p:txBody>
          <a:bodyPr wrap="square" rtlCol="0" anchor="t"/>
          <a:lstStyle/>
          <a:p>
            <a:pPr marL="0" indent="0" algn="l">
              <a:buNone/>
            </a:pPr>
            <a:r>
              <a:rPr lang="en-US" sz="1200" b="1" dirty="0">
                <a:solidFill>
                  <a:srgbClr val="1F2328"/>
                </a:solidFill>
                <a:latin typeface="Calibri" pitchFamily="34" charset="0"/>
                <a:ea typeface="Calibri" pitchFamily="34" charset="-122"/>
                <a:cs typeface="Calibri" pitchFamily="34" charset="-120"/>
              </a:rPr>
              <a:t>Version Control with Git Repositories</a:t>
            </a:r>
            <a:endParaRPr lang="en-US" sz="1200" dirty="0"/>
          </a:p>
          <a:p>
            <a:pPr marL="0" indent="0" algn="l">
              <a:buNone/>
            </a:pPr>
            <a:r>
              <a:rPr lang="en-US" sz="1100" dirty="0">
                <a:solidFill>
                  <a:srgbClr val="424A53"/>
                </a:solidFill>
                <a:latin typeface="Calibri" pitchFamily="34" charset="0"/>
                <a:ea typeface="Calibri" pitchFamily="34" charset="-122"/>
                <a:cs typeface="Calibri" pitchFamily="34" charset="-120"/>
              </a:rPr>
              <a:t>Core to GitHub's identity and the foundation of the entire platform</a:t>
            </a:r>
            <a:endParaRPr lang="en-US" sz="1100" dirty="0"/>
          </a:p>
          <a:p>
            <a:pPr marL="0" indent="0" algn="l">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lgn="l">
              <a:buNone/>
            </a:pPr>
            <a:r>
              <a:rPr lang="en-US" sz="1200" b="1" dirty="0">
                <a:solidFill>
                  <a:srgbClr val="1F2328"/>
                </a:solidFill>
                <a:latin typeface="Calibri" pitchFamily="34" charset="0"/>
                <a:ea typeface="Calibri" pitchFamily="34" charset="-122"/>
                <a:cs typeface="Calibri" pitchFamily="34" charset="-120"/>
              </a:rPr>
              <a:t>Pull Requests &amp; Code Review</a:t>
            </a:r>
            <a:endParaRPr lang="en-US" sz="1200" dirty="0"/>
          </a:p>
          <a:p>
            <a:pPr marL="0" indent="0" algn="l">
              <a:buNone/>
            </a:pPr>
            <a:r>
              <a:rPr lang="en-US" sz="1100" dirty="0">
                <a:solidFill>
                  <a:srgbClr val="424A53"/>
                </a:solidFill>
                <a:latin typeface="Calibri" pitchFamily="34" charset="0"/>
                <a:ea typeface="Calibri" pitchFamily="34" charset="-122"/>
                <a:cs typeface="Calibri" pitchFamily="34" charset="-120"/>
              </a:rPr>
              <a:t>Backbone of team collaboration and code quality</a:t>
            </a:r>
            <a:endParaRPr lang="en-US" sz="1100" dirty="0"/>
          </a:p>
          <a:p>
            <a:pPr marL="0" indent="0" algn="l">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lgn="l">
              <a:buNone/>
            </a:pPr>
            <a:r>
              <a:rPr lang="en-US" sz="1200" b="1" dirty="0">
                <a:solidFill>
                  <a:srgbClr val="1F2328"/>
                </a:solidFill>
                <a:latin typeface="Calibri" pitchFamily="34" charset="0"/>
                <a:ea typeface="Calibri" pitchFamily="34" charset="-122"/>
                <a:cs typeface="Calibri" pitchFamily="34" charset="-120"/>
              </a:rPr>
              <a:t>Issue Tracking &amp; Bug Reporting</a:t>
            </a:r>
            <a:endParaRPr lang="en-US" sz="1200" dirty="0"/>
          </a:p>
          <a:p>
            <a:pPr marL="0" indent="0" algn="l">
              <a:buNone/>
            </a:pPr>
            <a:r>
              <a:rPr lang="en-US" sz="1050" dirty="0">
                <a:solidFill>
                  <a:srgbClr val="424A53"/>
                </a:solidFill>
                <a:latin typeface="Calibri" pitchFamily="34" charset="0"/>
                <a:ea typeface="Calibri" pitchFamily="34" charset="-122"/>
                <a:cs typeface="Calibri" pitchFamily="34" charset="-120"/>
              </a:rPr>
              <a:t>Centralized visibility into bugs, tasks, and enhancements</a:t>
            </a:r>
            <a:endParaRPr lang="en-US" sz="1200" dirty="0"/>
          </a:p>
        </p:txBody>
      </p:sp>
      <p:sp>
        <p:nvSpPr>
          <p:cNvPr id="9" name="Shape 7"/>
          <p:cNvSpPr/>
          <p:nvPr/>
        </p:nvSpPr>
        <p:spPr>
          <a:xfrm>
            <a:off x="4709160" y="1097280"/>
            <a:ext cx="4251960" cy="1874520"/>
          </a:xfrm>
          <a:prstGeom prst="rect">
            <a:avLst/>
          </a:prstGeom>
          <a:solidFill>
            <a:srgbClr val="FFF8C5"/>
          </a:solidFill>
          <a:ln w="12700">
            <a:solidFill>
              <a:srgbClr val="BF8700"/>
            </a:solidFill>
            <a:prstDash val="solid"/>
          </a:ln>
        </p:spPr>
        <p:txBody>
          <a:bodyPr/>
          <a:lstStyle/>
          <a:p>
            <a:endParaRPr lang="en-US"/>
          </a:p>
        </p:txBody>
      </p:sp>
      <p:sp>
        <p:nvSpPr>
          <p:cNvPr id="10" name="Shape 8"/>
          <p:cNvSpPr/>
          <p:nvPr/>
        </p:nvSpPr>
        <p:spPr>
          <a:xfrm>
            <a:off x="4846320" y="1234440"/>
            <a:ext cx="457200" cy="457200"/>
          </a:xfrm>
          <a:prstGeom prst="ellipse">
            <a:avLst/>
          </a:prstGeom>
          <a:solidFill>
            <a:srgbClr val="BF8700"/>
          </a:solidFill>
          <a:ln w="12700">
            <a:solidFill>
              <a:srgbClr val="BF8700"/>
            </a:solidFill>
            <a:prstDash val="solid"/>
          </a:ln>
        </p:spPr>
        <p:txBody>
          <a:bodyPr/>
          <a:lstStyle/>
          <a:p>
            <a:endParaRPr lang="en-US"/>
          </a:p>
        </p:txBody>
      </p:sp>
      <p:sp>
        <p:nvSpPr>
          <p:cNvPr id="11" name="Text 9"/>
          <p:cNvSpPr/>
          <p:nvPr/>
        </p:nvSpPr>
        <p:spPr>
          <a:xfrm>
            <a:off x="4846320" y="123444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a:t>
            </a:r>
            <a:endParaRPr lang="en-US" sz="2200" dirty="0"/>
          </a:p>
        </p:txBody>
      </p:sp>
      <p:sp>
        <p:nvSpPr>
          <p:cNvPr id="12" name="Text 10"/>
          <p:cNvSpPr/>
          <p:nvPr/>
        </p:nvSpPr>
        <p:spPr>
          <a:xfrm>
            <a:off x="5394960" y="1234440"/>
            <a:ext cx="3429000" cy="457200"/>
          </a:xfrm>
          <a:prstGeom prst="rect">
            <a:avLst/>
          </a:prstGeom>
          <a:noFill/>
          <a:ln/>
        </p:spPr>
        <p:txBody>
          <a:bodyPr wrap="square" lIns="0" tIns="0" rIns="0" bIns="0" rtlCol="0" anchor="ctr"/>
          <a:lstStyle/>
          <a:p>
            <a:pPr marL="0" indent="0" algn="l">
              <a:buNone/>
            </a:pPr>
            <a:r>
              <a:rPr lang="en-US" sz="1600" b="1" dirty="0">
                <a:solidFill>
                  <a:srgbClr val="BF8700"/>
                </a:solidFill>
                <a:latin typeface="Calibri" pitchFamily="34" charset="0"/>
                <a:ea typeface="Calibri" pitchFamily="34" charset="-122"/>
                <a:cs typeface="Calibri" pitchFamily="34" charset="-120"/>
              </a:rPr>
              <a:t>Should-Have</a:t>
            </a:r>
            <a:endParaRPr lang="en-US" sz="1600" dirty="0"/>
          </a:p>
        </p:txBody>
      </p:sp>
      <p:sp>
        <p:nvSpPr>
          <p:cNvPr id="13" name="Text 11"/>
          <p:cNvSpPr/>
          <p:nvPr/>
        </p:nvSpPr>
        <p:spPr>
          <a:xfrm>
            <a:off x="4892040" y="1737360"/>
            <a:ext cx="3886200" cy="1097280"/>
          </a:xfrm>
          <a:prstGeom prst="rect">
            <a:avLst/>
          </a:prstGeom>
          <a:noFill/>
          <a:ln/>
        </p:spPr>
        <p:txBody>
          <a:bodyPr wrap="square" rtlCol="0" anchor="t"/>
          <a:lstStyle/>
          <a:p>
            <a:pPr marL="0" indent="0" algn="l">
              <a:buNone/>
            </a:pPr>
            <a:r>
              <a:rPr lang="en-US" sz="1200" b="1" dirty="0">
                <a:solidFill>
                  <a:srgbClr val="1F2328"/>
                </a:solidFill>
                <a:latin typeface="Calibri" pitchFamily="34" charset="0"/>
                <a:ea typeface="Calibri" pitchFamily="34" charset="-122"/>
                <a:cs typeface="Calibri" pitchFamily="34" charset="-120"/>
              </a:rPr>
              <a:t>GitHub Actions (CI/CD)</a:t>
            </a:r>
            <a:endParaRPr lang="en-US" sz="1200" dirty="0"/>
          </a:p>
          <a:p>
            <a:pPr marL="0" indent="0" algn="l">
              <a:buNone/>
            </a:pPr>
            <a:r>
              <a:rPr lang="en-US" sz="1050" dirty="0">
                <a:solidFill>
                  <a:srgbClr val="424A53"/>
                </a:solidFill>
                <a:latin typeface="Calibri" pitchFamily="34" charset="0"/>
                <a:ea typeface="Calibri" pitchFamily="34" charset="-122"/>
                <a:cs typeface="Calibri" pitchFamily="34" charset="-120"/>
              </a:rPr>
              <a:t>Strong productivity boost, but the product still functions without it</a:t>
            </a:r>
            <a:endParaRPr lang="en-US" sz="1200" dirty="0"/>
          </a:p>
          <a:p>
            <a:pPr marL="0" indent="0" algn="l">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lgn="l">
              <a:buNone/>
            </a:pPr>
            <a:r>
              <a:rPr lang="en-US" sz="1200" b="1" dirty="0">
                <a:solidFill>
                  <a:srgbClr val="1F2328"/>
                </a:solidFill>
                <a:latin typeface="Calibri" pitchFamily="34" charset="0"/>
                <a:ea typeface="Calibri" pitchFamily="34" charset="-122"/>
                <a:cs typeface="Calibri" pitchFamily="34" charset="-120"/>
              </a:rPr>
              <a:t>Project Boards</a:t>
            </a:r>
            <a:endParaRPr lang="en-US" sz="1200" dirty="0"/>
          </a:p>
          <a:p>
            <a:pPr marL="0" indent="0" algn="l">
              <a:buNone/>
            </a:pPr>
            <a:r>
              <a:rPr lang="en-US" sz="1050" dirty="0">
                <a:solidFill>
                  <a:srgbClr val="424A53"/>
                </a:solidFill>
                <a:latin typeface="Calibri" pitchFamily="34" charset="0"/>
                <a:ea typeface="Calibri" pitchFamily="34" charset="-122"/>
                <a:cs typeface="Calibri" pitchFamily="34" charset="-120"/>
              </a:rPr>
              <a:t>Useful for planning at scale and optional for smaller teams</a:t>
            </a:r>
            <a:endParaRPr lang="en-US" sz="1200" dirty="0"/>
          </a:p>
        </p:txBody>
      </p:sp>
      <p:sp>
        <p:nvSpPr>
          <p:cNvPr id="14" name="Shape 12"/>
          <p:cNvSpPr/>
          <p:nvPr/>
        </p:nvSpPr>
        <p:spPr>
          <a:xfrm>
            <a:off x="365760" y="3063240"/>
            <a:ext cx="4251960" cy="1874520"/>
          </a:xfrm>
          <a:prstGeom prst="rect">
            <a:avLst/>
          </a:prstGeom>
          <a:solidFill>
            <a:srgbClr val="DDF4FF"/>
          </a:solidFill>
          <a:ln w="12700">
            <a:solidFill>
              <a:srgbClr val="0969DA"/>
            </a:solidFill>
            <a:prstDash val="solid"/>
          </a:ln>
        </p:spPr>
        <p:txBody>
          <a:bodyPr/>
          <a:lstStyle/>
          <a:p>
            <a:endParaRPr lang="en-US"/>
          </a:p>
        </p:txBody>
      </p:sp>
      <p:sp>
        <p:nvSpPr>
          <p:cNvPr id="15" name="Shape 13"/>
          <p:cNvSpPr/>
          <p:nvPr/>
        </p:nvSpPr>
        <p:spPr>
          <a:xfrm>
            <a:off x="502920" y="3200400"/>
            <a:ext cx="457200" cy="457200"/>
          </a:xfrm>
          <a:prstGeom prst="ellipse">
            <a:avLst/>
          </a:prstGeom>
          <a:solidFill>
            <a:srgbClr val="0969DA"/>
          </a:solidFill>
          <a:ln w="12700">
            <a:solidFill>
              <a:srgbClr val="0969DA"/>
            </a:solidFill>
            <a:prstDash val="solid"/>
          </a:ln>
        </p:spPr>
        <p:txBody>
          <a:bodyPr/>
          <a:lstStyle/>
          <a:p>
            <a:endParaRPr lang="en-US"/>
          </a:p>
        </p:txBody>
      </p:sp>
      <p:sp>
        <p:nvSpPr>
          <p:cNvPr id="16" name="Text 14"/>
          <p:cNvSpPr/>
          <p:nvPr/>
        </p:nvSpPr>
        <p:spPr>
          <a:xfrm>
            <a:off x="502920" y="320040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17" name="Text 15"/>
          <p:cNvSpPr/>
          <p:nvPr/>
        </p:nvSpPr>
        <p:spPr>
          <a:xfrm>
            <a:off x="1051560" y="3200400"/>
            <a:ext cx="3429000" cy="457200"/>
          </a:xfrm>
          <a:prstGeom prst="rect">
            <a:avLst/>
          </a:prstGeom>
          <a:noFill/>
          <a:ln/>
        </p:spPr>
        <p:txBody>
          <a:bodyPr wrap="square" lIns="0" tIns="0" rIns="0" bIns="0" rtlCol="0" anchor="ctr"/>
          <a:lstStyle/>
          <a:p>
            <a:pPr marL="0" indent="0" algn="l">
              <a:buNone/>
            </a:pPr>
            <a:r>
              <a:rPr lang="en-US" sz="1600" b="1" dirty="0">
                <a:solidFill>
                  <a:srgbClr val="0969DA"/>
                </a:solidFill>
                <a:latin typeface="Calibri" pitchFamily="34" charset="0"/>
                <a:ea typeface="Calibri" pitchFamily="34" charset="-122"/>
                <a:cs typeface="Calibri" pitchFamily="34" charset="-120"/>
              </a:rPr>
              <a:t>Could-Have</a:t>
            </a:r>
            <a:endParaRPr lang="en-US" sz="1600" dirty="0"/>
          </a:p>
        </p:txBody>
      </p:sp>
      <p:sp>
        <p:nvSpPr>
          <p:cNvPr id="18" name="Text 16"/>
          <p:cNvSpPr/>
          <p:nvPr/>
        </p:nvSpPr>
        <p:spPr>
          <a:xfrm>
            <a:off x="548640" y="3703320"/>
            <a:ext cx="3886200" cy="1097280"/>
          </a:xfrm>
          <a:prstGeom prst="rect">
            <a:avLst/>
          </a:prstGeom>
          <a:noFill/>
          <a:ln/>
        </p:spPr>
        <p:txBody>
          <a:bodyPr wrap="square" rtlCol="0" anchor="t"/>
          <a:lstStyle/>
          <a:p>
            <a:pPr marL="0" indent="0" algn="l">
              <a:buNone/>
            </a:pPr>
            <a:r>
              <a:rPr lang="en-US" sz="1200" b="1" dirty="0">
                <a:solidFill>
                  <a:srgbClr val="1F2328"/>
                </a:solidFill>
                <a:latin typeface="Calibri" pitchFamily="34" charset="0"/>
                <a:ea typeface="Calibri" pitchFamily="34" charset="-122"/>
                <a:cs typeface="Calibri" pitchFamily="34" charset="-120"/>
              </a:rPr>
              <a:t>Advanced Search &amp; Filtering</a:t>
            </a:r>
            <a:endParaRPr lang="en-US" sz="1200" dirty="0"/>
          </a:p>
          <a:p>
            <a:pPr marL="0" indent="0" algn="l">
              <a:buNone/>
            </a:pPr>
            <a:r>
              <a:rPr lang="en-US" sz="1050" dirty="0">
                <a:solidFill>
                  <a:srgbClr val="424A53"/>
                </a:solidFill>
                <a:latin typeface="Calibri" pitchFamily="34" charset="0"/>
                <a:ea typeface="Calibri" pitchFamily="34" charset="-122"/>
                <a:cs typeface="Calibri" pitchFamily="34" charset="-120"/>
              </a:rPr>
              <a:t>Improves discoverability across repos and issues</a:t>
            </a:r>
            <a:endParaRPr lang="en-US" sz="1200" dirty="0"/>
          </a:p>
          <a:p>
            <a:pPr marL="0" indent="0" algn="l">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lgn="l">
              <a:buNone/>
            </a:pPr>
            <a:r>
              <a:rPr lang="en-US" sz="1200" b="1" dirty="0">
                <a:solidFill>
                  <a:srgbClr val="1F2328"/>
                </a:solidFill>
                <a:latin typeface="Calibri" pitchFamily="34" charset="0"/>
                <a:ea typeface="Calibri" pitchFamily="34" charset="-122"/>
                <a:cs typeface="Calibri" pitchFamily="34" charset="-120"/>
              </a:rPr>
              <a:t>Enhanced Onboarding &amp; Tutorials</a:t>
            </a:r>
            <a:endParaRPr lang="en-US" sz="1200" dirty="0"/>
          </a:p>
          <a:p>
            <a:pPr marL="0" indent="0" algn="l">
              <a:buNone/>
            </a:pPr>
            <a:r>
              <a:rPr lang="en-US" sz="1050" dirty="0">
                <a:solidFill>
                  <a:srgbClr val="424A53"/>
                </a:solidFill>
                <a:latin typeface="Calibri" pitchFamily="34" charset="0"/>
                <a:ea typeface="Calibri" pitchFamily="34" charset="-122"/>
                <a:cs typeface="Calibri" pitchFamily="34" charset="-120"/>
              </a:rPr>
              <a:t>Lowers the learning curve for new users</a:t>
            </a:r>
            <a:endParaRPr lang="en-US" sz="1200" dirty="0"/>
          </a:p>
        </p:txBody>
      </p:sp>
      <p:sp>
        <p:nvSpPr>
          <p:cNvPr id="19" name="Shape 17"/>
          <p:cNvSpPr/>
          <p:nvPr/>
        </p:nvSpPr>
        <p:spPr>
          <a:xfrm>
            <a:off x="4709160" y="3063240"/>
            <a:ext cx="4251960" cy="1874520"/>
          </a:xfrm>
          <a:prstGeom prst="rect">
            <a:avLst/>
          </a:prstGeom>
          <a:solidFill>
            <a:srgbClr val="FFEBE9"/>
          </a:solidFill>
          <a:ln w="12700">
            <a:solidFill>
              <a:srgbClr val="CF222E"/>
            </a:solidFill>
            <a:prstDash val="solid"/>
          </a:ln>
        </p:spPr>
        <p:txBody>
          <a:bodyPr/>
          <a:lstStyle/>
          <a:p>
            <a:endParaRPr lang="en-US"/>
          </a:p>
        </p:txBody>
      </p:sp>
      <p:sp>
        <p:nvSpPr>
          <p:cNvPr id="20" name="Shape 18"/>
          <p:cNvSpPr/>
          <p:nvPr/>
        </p:nvSpPr>
        <p:spPr>
          <a:xfrm>
            <a:off x="4846320" y="3200400"/>
            <a:ext cx="457200" cy="457200"/>
          </a:xfrm>
          <a:prstGeom prst="ellipse">
            <a:avLst/>
          </a:prstGeom>
          <a:solidFill>
            <a:srgbClr val="CF222E"/>
          </a:solidFill>
          <a:ln w="12700">
            <a:solidFill>
              <a:srgbClr val="CF222E"/>
            </a:solidFill>
            <a:prstDash val="solid"/>
          </a:ln>
        </p:spPr>
        <p:txBody>
          <a:bodyPr/>
          <a:lstStyle/>
          <a:p>
            <a:endParaRPr lang="en-US"/>
          </a:p>
        </p:txBody>
      </p:sp>
      <p:sp>
        <p:nvSpPr>
          <p:cNvPr id="21" name="Text 19"/>
          <p:cNvSpPr/>
          <p:nvPr/>
        </p:nvSpPr>
        <p:spPr>
          <a:xfrm>
            <a:off x="4846320" y="320040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W</a:t>
            </a:r>
            <a:endParaRPr lang="en-US" sz="2200" dirty="0"/>
          </a:p>
        </p:txBody>
      </p:sp>
      <p:sp>
        <p:nvSpPr>
          <p:cNvPr id="22" name="Text 20"/>
          <p:cNvSpPr/>
          <p:nvPr/>
        </p:nvSpPr>
        <p:spPr>
          <a:xfrm>
            <a:off x="5394960" y="3200400"/>
            <a:ext cx="3429000" cy="457200"/>
          </a:xfrm>
          <a:prstGeom prst="rect">
            <a:avLst/>
          </a:prstGeom>
          <a:noFill/>
          <a:ln/>
        </p:spPr>
        <p:txBody>
          <a:bodyPr wrap="square" lIns="0" tIns="0" rIns="0" bIns="0" rtlCol="0" anchor="ctr"/>
          <a:lstStyle/>
          <a:p>
            <a:pPr marL="0" indent="0" algn="l">
              <a:buNone/>
            </a:pPr>
            <a:r>
              <a:rPr lang="en-US" sz="1600" b="1" dirty="0">
                <a:solidFill>
                  <a:srgbClr val="CF222E"/>
                </a:solidFill>
                <a:latin typeface="Calibri" pitchFamily="34" charset="0"/>
                <a:ea typeface="Calibri" pitchFamily="34" charset="-122"/>
                <a:cs typeface="Calibri" pitchFamily="34" charset="-120"/>
              </a:rPr>
              <a:t>Won't-Have (this release)</a:t>
            </a:r>
            <a:endParaRPr lang="en-US" sz="1600" dirty="0"/>
          </a:p>
        </p:txBody>
      </p:sp>
      <p:sp>
        <p:nvSpPr>
          <p:cNvPr id="23" name="Text 21"/>
          <p:cNvSpPr/>
          <p:nvPr/>
        </p:nvSpPr>
        <p:spPr>
          <a:xfrm>
            <a:off x="4892040" y="3703320"/>
            <a:ext cx="3886200" cy="1097280"/>
          </a:xfrm>
          <a:prstGeom prst="rect">
            <a:avLst/>
          </a:prstGeom>
          <a:noFill/>
          <a:ln/>
        </p:spPr>
        <p:txBody>
          <a:bodyPr wrap="square" rtlCol="0" anchor="t"/>
          <a:lstStyle/>
          <a:p>
            <a:pPr marL="0" indent="0" algn="l">
              <a:buNone/>
            </a:pPr>
            <a:r>
              <a:rPr lang="en-US" sz="1200" b="1" dirty="0">
                <a:solidFill>
                  <a:srgbClr val="1F2328"/>
                </a:solidFill>
                <a:latin typeface="Calibri" pitchFamily="34" charset="0"/>
                <a:ea typeface="Calibri" pitchFamily="34" charset="-122"/>
                <a:cs typeface="Calibri" pitchFamily="34" charset="-120"/>
              </a:rPr>
              <a:t>Built-in Real-Time Code Editor (Full IDE)</a:t>
            </a:r>
            <a:endParaRPr lang="en-US" sz="1200" dirty="0"/>
          </a:p>
          <a:p>
            <a:pPr marL="0" indent="0" algn="l">
              <a:buNone/>
            </a:pPr>
            <a:r>
              <a:rPr lang="en-US" sz="1050" dirty="0">
                <a:solidFill>
                  <a:srgbClr val="424A53"/>
                </a:solidFill>
                <a:latin typeface="Calibri" pitchFamily="34" charset="0"/>
                <a:ea typeface="Calibri" pitchFamily="34" charset="-122"/>
                <a:cs typeface="Calibri" pitchFamily="34" charset="-120"/>
              </a:rPr>
              <a:t>Out of scope, since external IDEs already serve this need well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lgn="l">
              <a:buNone/>
            </a:pPr>
            <a:r>
              <a:rPr lang="en-US" sz="2600" b="1" dirty="0">
                <a:solidFill>
                  <a:srgbClr val="1F2328"/>
                </a:solidFill>
                <a:latin typeface="Calibri" pitchFamily="34" charset="0"/>
                <a:ea typeface="Calibri" pitchFamily="34" charset="-122"/>
                <a:cs typeface="Calibri" pitchFamily="34" charset="-120"/>
              </a:rPr>
              <a:t>Reflection on Feedback-Driven Prioritization</a:t>
            </a:r>
            <a:endParaRPr lang="en-US" sz="2600" dirty="0"/>
          </a:p>
        </p:txBody>
      </p:sp>
      <p:sp>
        <p:nvSpPr>
          <p:cNvPr id="3" name="Text 1"/>
          <p:cNvSpPr/>
          <p:nvPr/>
        </p:nvSpPr>
        <p:spPr>
          <a:xfrm>
            <a:off x="457200" y="914400"/>
            <a:ext cx="8229600" cy="1188720"/>
          </a:xfrm>
          <a:prstGeom prst="rect">
            <a:avLst/>
          </a:prstGeom>
          <a:noFill/>
          <a:ln/>
        </p:spPr>
        <p:txBody>
          <a:bodyPr wrap="square" rtlCol="0" anchor="t"/>
          <a:lstStyle/>
          <a:p>
            <a:pPr marL="0" indent="0" algn="l">
              <a:spcAft>
                <a:spcPts val="600"/>
              </a:spcAft>
              <a:buNone/>
            </a:pPr>
            <a:r>
              <a:rPr lang="en-US" sz="1200" dirty="0">
                <a:solidFill>
                  <a:srgbClr val="424A53"/>
                </a:solidFill>
                <a:latin typeface="Calibri" pitchFamily="34" charset="0"/>
                <a:ea typeface="Calibri" pitchFamily="34" charset="-122"/>
                <a:cs typeface="Calibri" pitchFamily="34" charset="-120"/>
              </a:rPr>
              <a:t>Working through this exercise made it clear that customer feedback is more than a checkbox. It shapes which features earn engineering time. Actively seeking and analyzing feedback from current and churned customers helps identify the most pressing pain points and unmet needs, guiding teams toward improvements that directly address those issues (How to Prioritize Your Product Roadmap, n.d.). MoSCoW gave the analysis structure, but the framework is only as strong as the feedback feeding it.</a:t>
            </a:r>
            <a:endParaRPr lang="en-US" sz="1200" dirty="0"/>
          </a:p>
        </p:txBody>
      </p:sp>
      <p:sp>
        <p:nvSpPr>
          <p:cNvPr id="4" name="Shape 2"/>
          <p:cNvSpPr/>
          <p:nvPr/>
        </p:nvSpPr>
        <p:spPr>
          <a:xfrm>
            <a:off x="457200" y="2103120"/>
            <a:ext cx="2743200" cy="2468880"/>
          </a:xfrm>
          <a:prstGeom prst="rect">
            <a:avLst/>
          </a:prstGeom>
          <a:solidFill>
            <a:srgbClr val="DAFBE1"/>
          </a:solidFill>
          <a:ln w="12700">
            <a:solidFill>
              <a:srgbClr val="1F883D"/>
            </a:solidFill>
            <a:prstDash val="solid"/>
          </a:ln>
        </p:spPr>
        <p:txBody>
          <a:bodyPr/>
          <a:lstStyle/>
          <a:p>
            <a:endParaRPr lang="en-US"/>
          </a:p>
        </p:txBody>
      </p:sp>
      <p:sp>
        <p:nvSpPr>
          <p:cNvPr id="5" name="Text 3"/>
          <p:cNvSpPr/>
          <p:nvPr/>
        </p:nvSpPr>
        <p:spPr>
          <a:xfrm>
            <a:off x="640080" y="2171700"/>
            <a:ext cx="2377440" cy="411480"/>
          </a:xfrm>
          <a:prstGeom prst="rect">
            <a:avLst/>
          </a:prstGeom>
          <a:noFill/>
          <a:ln/>
        </p:spPr>
        <p:txBody>
          <a:bodyPr wrap="square" lIns="0" tIns="0" rIns="0" bIns="0" rtlCol="0" anchor="ctr"/>
          <a:lstStyle/>
          <a:p>
            <a:pPr marL="0" indent="0" algn="l">
              <a:buNone/>
            </a:pPr>
            <a:r>
              <a:rPr lang="en-US" sz="1600" b="1" dirty="0">
                <a:solidFill>
                  <a:srgbClr val="1F883D"/>
                </a:solidFill>
                <a:latin typeface="Calibri" pitchFamily="34" charset="0"/>
                <a:ea typeface="Calibri" pitchFamily="34" charset="-122"/>
                <a:cs typeface="Calibri" pitchFamily="34" charset="-120"/>
              </a:rPr>
              <a:t>Impact</a:t>
            </a:r>
            <a:endParaRPr lang="en-US" sz="1600" dirty="0"/>
          </a:p>
        </p:txBody>
      </p:sp>
      <p:sp>
        <p:nvSpPr>
          <p:cNvPr id="6" name="Text 4"/>
          <p:cNvSpPr/>
          <p:nvPr/>
        </p:nvSpPr>
        <p:spPr>
          <a:xfrm>
            <a:off x="502920" y="2653259"/>
            <a:ext cx="2514600" cy="1691640"/>
          </a:xfrm>
          <a:prstGeom prst="rect">
            <a:avLst/>
          </a:prstGeom>
          <a:noFill/>
          <a:ln/>
        </p:spPr>
        <p:txBody>
          <a:bodyPr wrap="square" rtlCol="0" anchor="t"/>
          <a:lstStyle/>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Customer feedback turns prioritization from guesswork into evidence-based decisions</a:t>
            </a:r>
            <a:endParaRPr lang="en-US" sz="1200" dirty="0"/>
          </a:p>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The Won't-Have category prevents scope creep by explicitly naming what gets deferred</a:t>
            </a:r>
            <a:endParaRPr lang="en-US" sz="1200" dirty="0"/>
          </a:p>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Stakeholder communication improves when priorities are visible and categorized</a:t>
            </a:r>
            <a:endParaRPr lang="en-US" sz="1200" dirty="0"/>
          </a:p>
        </p:txBody>
      </p:sp>
      <p:sp>
        <p:nvSpPr>
          <p:cNvPr id="7" name="Shape 5"/>
          <p:cNvSpPr/>
          <p:nvPr/>
        </p:nvSpPr>
        <p:spPr>
          <a:xfrm>
            <a:off x="3337560" y="2103120"/>
            <a:ext cx="2743200" cy="2468880"/>
          </a:xfrm>
          <a:prstGeom prst="rect">
            <a:avLst/>
          </a:prstGeom>
          <a:solidFill>
            <a:srgbClr val="FFF8C5"/>
          </a:solidFill>
          <a:ln w="12700">
            <a:solidFill>
              <a:srgbClr val="BF8700"/>
            </a:solidFill>
            <a:prstDash val="solid"/>
          </a:ln>
        </p:spPr>
        <p:txBody>
          <a:bodyPr/>
          <a:lstStyle/>
          <a:p>
            <a:endParaRPr lang="en-US"/>
          </a:p>
        </p:txBody>
      </p:sp>
      <p:sp>
        <p:nvSpPr>
          <p:cNvPr id="8" name="Text 6"/>
          <p:cNvSpPr/>
          <p:nvPr/>
        </p:nvSpPr>
        <p:spPr>
          <a:xfrm>
            <a:off x="3520440" y="2166453"/>
            <a:ext cx="2377440" cy="411480"/>
          </a:xfrm>
          <a:prstGeom prst="rect">
            <a:avLst/>
          </a:prstGeom>
          <a:noFill/>
          <a:ln/>
        </p:spPr>
        <p:txBody>
          <a:bodyPr wrap="square" lIns="0" tIns="0" rIns="0" bIns="0" rtlCol="0" anchor="ctr"/>
          <a:lstStyle/>
          <a:p>
            <a:pPr marL="0" indent="0" algn="l">
              <a:buNone/>
            </a:pPr>
            <a:r>
              <a:rPr lang="en-US" sz="1600" b="1" dirty="0">
                <a:solidFill>
                  <a:srgbClr val="BF8700"/>
                </a:solidFill>
                <a:latin typeface="Calibri" pitchFamily="34" charset="0"/>
                <a:ea typeface="Calibri" pitchFamily="34" charset="-122"/>
                <a:cs typeface="Calibri" pitchFamily="34" charset="-120"/>
              </a:rPr>
              <a:t>Challenges</a:t>
            </a:r>
            <a:endParaRPr lang="en-US" sz="1600" dirty="0"/>
          </a:p>
        </p:txBody>
      </p:sp>
      <p:sp>
        <p:nvSpPr>
          <p:cNvPr id="9" name="Text 7"/>
          <p:cNvSpPr/>
          <p:nvPr/>
        </p:nvSpPr>
        <p:spPr>
          <a:xfrm>
            <a:off x="3383280" y="2653634"/>
            <a:ext cx="2514600" cy="1691640"/>
          </a:xfrm>
          <a:prstGeom prst="rect">
            <a:avLst/>
          </a:prstGeom>
          <a:noFill/>
          <a:ln/>
        </p:spPr>
        <p:txBody>
          <a:bodyPr wrap="square" rtlCol="0" anchor="t"/>
          <a:lstStyle/>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MoSCoW lacks an objective scoring system, leaving room for stakeholder bias</a:t>
            </a:r>
            <a:endParaRPr lang="en-US" sz="1200" dirty="0"/>
          </a:p>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Feature categories drift over time as user expectations shift</a:t>
            </a:r>
            <a:endParaRPr lang="en-US" sz="1200" dirty="0"/>
          </a:p>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Disagreements over what counts as Must versus Should can slow alignment</a:t>
            </a:r>
            <a:endParaRPr lang="en-US" sz="1200" dirty="0"/>
          </a:p>
        </p:txBody>
      </p:sp>
      <p:sp>
        <p:nvSpPr>
          <p:cNvPr id="10" name="Shape 8"/>
          <p:cNvSpPr/>
          <p:nvPr/>
        </p:nvSpPr>
        <p:spPr>
          <a:xfrm>
            <a:off x="6217920" y="2103120"/>
            <a:ext cx="2743200" cy="2468880"/>
          </a:xfrm>
          <a:prstGeom prst="rect">
            <a:avLst/>
          </a:prstGeom>
          <a:solidFill>
            <a:srgbClr val="DDF4FF"/>
          </a:solidFill>
          <a:ln w="12700">
            <a:solidFill>
              <a:srgbClr val="0969DA"/>
            </a:solidFill>
            <a:prstDash val="solid"/>
          </a:ln>
        </p:spPr>
        <p:txBody>
          <a:bodyPr/>
          <a:lstStyle/>
          <a:p>
            <a:endParaRPr lang="en-US"/>
          </a:p>
        </p:txBody>
      </p:sp>
      <p:sp>
        <p:nvSpPr>
          <p:cNvPr id="11" name="Text 9"/>
          <p:cNvSpPr/>
          <p:nvPr/>
        </p:nvSpPr>
        <p:spPr>
          <a:xfrm>
            <a:off x="6400799" y="2166453"/>
            <a:ext cx="2377440" cy="411480"/>
          </a:xfrm>
          <a:prstGeom prst="rect">
            <a:avLst/>
          </a:prstGeom>
          <a:noFill/>
          <a:ln/>
        </p:spPr>
        <p:txBody>
          <a:bodyPr wrap="square" lIns="0" tIns="0" rIns="0" bIns="0" rtlCol="0" anchor="ctr"/>
          <a:lstStyle/>
          <a:p>
            <a:pPr marL="0" indent="0" algn="l">
              <a:buNone/>
            </a:pPr>
            <a:r>
              <a:rPr lang="en-US" sz="1600" b="1" dirty="0">
                <a:solidFill>
                  <a:srgbClr val="0969DA"/>
                </a:solidFill>
                <a:latin typeface="Calibri" pitchFamily="34" charset="0"/>
                <a:ea typeface="Calibri" pitchFamily="34" charset="-122"/>
                <a:cs typeface="Calibri" pitchFamily="34" charset="-120"/>
              </a:rPr>
              <a:t>Opportunities</a:t>
            </a:r>
            <a:endParaRPr lang="en-US" sz="1600" dirty="0"/>
          </a:p>
        </p:txBody>
      </p:sp>
      <p:sp>
        <p:nvSpPr>
          <p:cNvPr id="12" name="Text 10"/>
          <p:cNvSpPr/>
          <p:nvPr/>
        </p:nvSpPr>
        <p:spPr>
          <a:xfrm>
            <a:off x="6304862" y="2653634"/>
            <a:ext cx="2473377" cy="1691640"/>
          </a:xfrm>
          <a:prstGeom prst="rect">
            <a:avLst/>
          </a:prstGeom>
          <a:noFill/>
          <a:ln/>
        </p:spPr>
        <p:txBody>
          <a:bodyPr wrap="square" rtlCol="0" anchor="t"/>
          <a:lstStyle/>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Pair MoSCoW with weighted scoring or KANO for a more balanced view</a:t>
            </a:r>
            <a:endParaRPr lang="en-US" sz="1200" dirty="0"/>
          </a:p>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Re-run the analysis quarterly to catch shifting user priorities</a:t>
            </a:r>
            <a:endParaRPr lang="en-US" sz="1200" dirty="0"/>
          </a:p>
          <a:p>
            <a:pPr marL="171450" indent="-171450" algn="l">
              <a:spcAft>
                <a:spcPts val="400"/>
              </a:spcAft>
              <a:buSzPct val="100000"/>
              <a:buFont typeface="Arial" panose="020B0604020202020204" pitchFamily="34" charset="0"/>
              <a:buChar char="•"/>
            </a:pPr>
            <a:r>
              <a:rPr lang="en-US" sz="1200" dirty="0">
                <a:solidFill>
                  <a:srgbClr val="1F2328"/>
                </a:solidFill>
                <a:latin typeface="Calibri" pitchFamily="34" charset="0"/>
                <a:ea typeface="Calibri" pitchFamily="34" charset="-122"/>
                <a:cs typeface="Calibri" pitchFamily="34" charset="-120"/>
              </a:rPr>
              <a:t>Use the matrix as a communication tool with engineering, design, and leadership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3200" b="1" dirty="0">
                <a:solidFill>
                  <a:srgbClr val="1F2328"/>
                </a:solidFill>
                <a:latin typeface="Calibri" pitchFamily="34" charset="0"/>
                <a:ea typeface="Calibri" pitchFamily="34" charset="-122"/>
                <a:cs typeface="Calibri" pitchFamily="34" charset="-120"/>
              </a:rPr>
              <a:t>References</a:t>
            </a:r>
            <a:endParaRPr lang="en-US" sz="3200" dirty="0"/>
          </a:p>
        </p:txBody>
      </p:sp>
      <p:sp>
        <p:nvSpPr>
          <p:cNvPr id="3" name="Text 1"/>
          <p:cNvSpPr/>
          <p:nvPr/>
        </p:nvSpPr>
        <p:spPr>
          <a:xfrm>
            <a:off x="457200" y="1188720"/>
            <a:ext cx="8229600" cy="1828800"/>
          </a:xfrm>
          <a:prstGeom prst="rect">
            <a:avLst/>
          </a:prstGeom>
          <a:noFill/>
          <a:ln/>
        </p:spPr>
        <p:txBody>
          <a:bodyPr wrap="square" rtlCol="0" anchor="t"/>
          <a:lstStyle/>
          <a:p>
            <a:pPr marL="0" indent="0" algn="l">
              <a:spcAft>
                <a:spcPts val="800"/>
              </a:spcAft>
              <a:buNone/>
            </a:pPr>
            <a:endParaRPr lang="en-US" sz="1400" dirty="0"/>
          </a:p>
        </p:txBody>
      </p:sp>
      <p:sp>
        <p:nvSpPr>
          <p:cNvPr id="4" name="Shape 2"/>
          <p:cNvSpPr/>
          <p:nvPr/>
        </p:nvSpPr>
        <p:spPr>
          <a:xfrm>
            <a:off x="457200" y="4054959"/>
            <a:ext cx="8229600" cy="879297"/>
          </a:xfrm>
          <a:prstGeom prst="rect">
            <a:avLst/>
          </a:prstGeom>
          <a:solidFill>
            <a:srgbClr val="F6F8FA"/>
          </a:solidFill>
          <a:ln w="12700">
            <a:solidFill>
              <a:srgbClr val="D1D9E0"/>
            </a:solidFill>
            <a:prstDash val="solid"/>
          </a:ln>
        </p:spPr>
        <p:txBody>
          <a:bodyPr/>
          <a:lstStyle/>
          <a:p>
            <a:endParaRPr lang="en-US"/>
          </a:p>
        </p:txBody>
      </p:sp>
      <p:sp>
        <p:nvSpPr>
          <p:cNvPr id="5" name="Text 3"/>
          <p:cNvSpPr/>
          <p:nvPr/>
        </p:nvSpPr>
        <p:spPr>
          <a:xfrm>
            <a:off x="592633" y="4054960"/>
            <a:ext cx="7863840" cy="365760"/>
          </a:xfrm>
          <a:prstGeom prst="rect">
            <a:avLst/>
          </a:prstGeom>
          <a:noFill/>
          <a:ln/>
        </p:spPr>
        <p:txBody>
          <a:bodyPr wrap="square" lIns="0" tIns="0" rIns="0" bIns="0" rtlCol="0" anchor="ctr"/>
          <a:lstStyle/>
          <a:p>
            <a:pPr marL="0" indent="0" algn="l">
              <a:buNone/>
            </a:pPr>
            <a:r>
              <a:rPr lang="en-US" sz="1400" b="1" dirty="0">
                <a:solidFill>
                  <a:srgbClr val="8250DF"/>
                </a:solidFill>
                <a:latin typeface="Calibri" pitchFamily="34" charset="0"/>
                <a:ea typeface="Calibri" pitchFamily="34" charset="-122"/>
                <a:cs typeface="Calibri" pitchFamily="34" charset="-120"/>
              </a:rPr>
              <a:t>Project Repository</a:t>
            </a:r>
            <a:endParaRPr lang="en-US" sz="1400" dirty="0"/>
          </a:p>
        </p:txBody>
      </p:sp>
      <p:sp>
        <p:nvSpPr>
          <p:cNvPr id="6" name="Text 4"/>
          <p:cNvSpPr/>
          <p:nvPr/>
        </p:nvSpPr>
        <p:spPr>
          <a:xfrm>
            <a:off x="592633" y="4409408"/>
            <a:ext cx="7863840" cy="411480"/>
          </a:xfrm>
          <a:prstGeom prst="rect">
            <a:avLst/>
          </a:prstGeom>
          <a:noFill/>
          <a:ln/>
        </p:spPr>
        <p:txBody>
          <a:bodyPr wrap="square" lIns="0" tIns="0" rIns="0" bIns="0" rtlCol="0" anchor="ctr"/>
          <a:lstStyle/>
          <a:p>
            <a:r>
              <a:rPr lang="en-US" sz="1400" dirty="0">
                <a:hlinkClick r:id="rId3"/>
              </a:rPr>
              <a:t>Rusty-nails/Github-MoSCoW-Matrix</a:t>
            </a:r>
            <a:endParaRPr lang="en-US" sz="1300" dirty="0"/>
          </a:p>
        </p:txBody>
      </p:sp>
      <p:sp>
        <p:nvSpPr>
          <p:cNvPr id="8" name="TextBox 7">
            <a:extLst>
              <a:ext uri="{FF2B5EF4-FFF2-40B4-BE49-F238E27FC236}">
                <a16:creationId xmlns:a16="http://schemas.microsoft.com/office/drawing/2014/main" id="{F766F858-F666-2631-B5E4-AA78217D0FB1}"/>
              </a:ext>
            </a:extLst>
          </p:cNvPr>
          <p:cNvSpPr txBox="1"/>
          <p:nvPr/>
        </p:nvSpPr>
        <p:spPr>
          <a:xfrm>
            <a:off x="362308" y="982980"/>
            <a:ext cx="8324491" cy="2848087"/>
          </a:xfrm>
          <a:prstGeom prst="rect">
            <a:avLst/>
          </a:prstGeom>
          <a:noFill/>
        </p:spPr>
        <p:txBody>
          <a:bodyPr wrap="square">
            <a:spAutoFit/>
          </a:bodyPr>
          <a:lstStyle/>
          <a:p>
            <a:pPr marL="457200" marR="0" indent="-457200">
              <a:buNone/>
            </a:pPr>
            <a:r>
              <a:rPr lang="en-US" sz="1000" dirty="0">
                <a:effectLst/>
              </a:rPr>
              <a:t>DigitalOcean. (2023). </a:t>
            </a:r>
            <a:r>
              <a:rPr lang="en-US" sz="1000" i="1" dirty="0">
                <a:effectLst/>
              </a:rPr>
              <a:t>How to prioritize your product roadmap</a:t>
            </a:r>
            <a:r>
              <a:rPr lang="en-US" sz="1000" dirty="0">
                <a:effectLst/>
              </a:rPr>
              <a:t>. </a:t>
            </a:r>
            <a:r>
              <a:rPr lang="en-US" sz="1000" dirty="0">
                <a:effectLst/>
                <a:hlinkClick r:id="rId4"/>
              </a:rPr>
              <a:t>https://www.digitalocean.com/resources/articles/product-roadmap-prioritization</a:t>
            </a:r>
            <a:endParaRPr lang="en-US" sz="1000" dirty="0">
              <a:effectLst/>
            </a:endParaRPr>
          </a:p>
          <a:p>
            <a:pPr marL="457200" marR="0" indent="-457200">
              <a:buNone/>
            </a:pPr>
            <a:r>
              <a:rPr lang="en-US" sz="1000" dirty="0">
                <a:effectLst/>
              </a:rPr>
              <a:t> </a:t>
            </a:r>
          </a:p>
          <a:p>
            <a:pPr marL="457200" marR="0" indent="-457200">
              <a:buNone/>
            </a:pPr>
            <a:r>
              <a:rPr lang="en-US" sz="1000" dirty="0">
                <a:effectLst/>
              </a:rPr>
              <a:t>Dziuba, L. (2025). </a:t>
            </a:r>
            <a:r>
              <a:rPr lang="en-US" sz="1000" i="1" dirty="0">
                <a:effectLst/>
              </a:rPr>
              <a:t>9 prioritization frameworks &amp; which to use in 2025</a:t>
            </a:r>
            <a:r>
              <a:rPr lang="en-US" sz="1000" dirty="0">
                <a:effectLst/>
              </a:rPr>
              <a:t>. Product School. </a:t>
            </a:r>
            <a:r>
              <a:rPr lang="en-US" sz="1000" dirty="0">
                <a:effectLst/>
                <a:hlinkClick r:id="rId5"/>
              </a:rPr>
              <a:t>https://productschool.com/blog/product-fundamentals/ultimate-guide-product-prioritization</a:t>
            </a:r>
            <a:endParaRPr lang="en-US" sz="1000" dirty="0">
              <a:effectLst/>
            </a:endParaRPr>
          </a:p>
          <a:p>
            <a:pPr marL="457200" marR="0" indent="-457200">
              <a:buNone/>
            </a:pPr>
            <a:endParaRPr lang="en-US" sz="1000" dirty="0">
              <a:effectLst/>
            </a:endParaRPr>
          </a:p>
          <a:p>
            <a:pPr marL="457200" marR="0" indent="-457200">
              <a:buNone/>
            </a:pPr>
            <a:r>
              <a:rPr lang="en-US" sz="1000" dirty="0">
                <a:effectLst/>
              </a:rPr>
              <a:t>GitHub. (n.d</a:t>
            </a:r>
            <a:r>
              <a:rPr lang="en-US" sz="1000" i="1" dirty="0">
                <a:effectLst/>
              </a:rPr>
              <a:t>.). GitHub documentation</a:t>
            </a:r>
            <a:r>
              <a:rPr lang="en-US" sz="1000" dirty="0">
                <a:effectLst/>
              </a:rPr>
              <a:t>. https://docs.github.com/en</a:t>
            </a:r>
          </a:p>
          <a:p>
            <a:pPr marL="457200" marR="0" indent="-457200">
              <a:buNone/>
            </a:pPr>
            <a:r>
              <a:rPr lang="en-US" sz="1000" dirty="0">
                <a:effectLst/>
              </a:rPr>
              <a:t> </a:t>
            </a:r>
          </a:p>
          <a:p>
            <a:pPr marL="457200" marR="0" indent="-457200">
              <a:lnSpc>
                <a:spcPts val="1500"/>
              </a:lnSpc>
              <a:buNone/>
            </a:pPr>
            <a:r>
              <a:rPr lang="en-US" sz="1000" dirty="0" err="1">
                <a:effectLst/>
              </a:rPr>
              <a:t>Lucas_DevSamurai</a:t>
            </a:r>
            <a:r>
              <a:rPr lang="en-US" sz="1000" dirty="0">
                <a:effectLst/>
              </a:rPr>
              <a:t>. (2023). </a:t>
            </a:r>
            <a:r>
              <a:rPr lang="en-US" sz="1000" i="1" dirty="0">
                <a:effectLst/>
              </a:rPr>
              <a:t>Understanding the MoSCoW prioritization: How to implement it into your project</a:t>
            </a:r>
            <a:r>
              <a:rPr lang="en-US" sz="1000" dirty="0">
                <a:effectLst/>
              </a:rPr>
              <a:t>. Atlassian Community. </a:t>
            </a:r>
            <a:r>
              <a:rPr lang="en-US" sz="1000" dirty="0">
                <a:effectLst/>
                <a:hlinkClick r:id="rId6"/>
              </a:rPr>
              <a:t>https://community.atlassian.com/forums/App-Central-articles/Understanding-the-MoSCoW-prioritization-How-to-implement-it-into/ba-p/2463999</a:t>
            </a:r>
            <a:endParaRPr lang="en-US" sz="1000" dirty="0">
              <a:effectLst/>
            </a:endParaRPr>
          </a:p>
          <a:p>
            <a:pPr marL="457200" marR="0" indent="-457200">
              <a:buNone/>
            </a:pPr>
            <a:r>
              <a:rPr lang="en-US" sz="1000" dirty="0">
                <a:effectLst/>
              </a:rPr>
              <a:t> </a:t>
            </a:r>
          </a:p>
          <a:p>
            <a:pPr marL="457200" marR="0" indent="-457200">
              <a:buNone/>
            </a:pPr>
            <a:r>
              <a:rPr lang="en-US" sz="1000" dirty="0" err="1">
                <a:effectLst/>
              </a:rPr>
              <a:t>Productboard</a:t>
            </a:r>
            <a:r>
              <a:rPr lang="en-US" sz="1000" dirty="0">
                <a:effectLst/>
              </a:rPr>
              <a:t>. (n.d.). </a:t>
            </a:r>
            <a:r>
              <a:rPr lang="en-US" sz="1000" i="1" dirty="0">
                <a:effectLst/>
              </a:rPr>
              <a:t>Product prioritization frameworks: What is prioritization in product management? </a:t>
            </a:r>
            <a:r>
              <a:rPr lang="en-US" sz="1000" dirty="0">
                <a:effectLst/>
                <a:hlinkClick r:id="rId7"/>
              </a:rPr>
              <a:t>https://www.productboard.com/glossary/product-prioritization-frameworks/</a:t>
            </a:r>
            <a:endParaRPr lang="en-US" sz="1000" dirty="0">
              <a:effectLst/>
            </a:endParaRPr>
          </a:p>
          <a:p>
            <a:pPr marL="457200" marR="0" indent="-457200">
              <a:buNone/>
            </a:pPr>
            <a:r>
              <a:rPr lang="en-US" sz="1000" dirty="0">
                <a:effectLst/>
              </a:rPr>
              <a:t> </a:t>
            </a:r>
          </a:p>
          <a:p>
            <a:pPr marL="457200" marR="0" indent="-457200">
              <a:buNone/>
            </a:pPr>
            <a:r>
              <a:rPr lang="en-US" sz="1000" dirty="0" err="1">
                <a:effectLst/>
              </a:rPr>
              <a:t>ProductPlan</a:t>
            </a:r>
            <a:r>
              <a:rPr lang="en-US" sz="1000" dirty="0">
                <a:effectLst/>
              </a:rPr>
              <a:t>. (n.d.). </a:t>
            </a:r>
            <a:r>
              <a:rPr lang="en-US" sz="1000" i="1" dirty="0">
                <a:effectLst/>
              </a:rPr>
              <a:t>MoSCoW prioritization</a:t>
            </a:r>
            <a:r>
              <a:rPr lang="en-US" sz="1000" dirty="0">
                <a:effectLst/>
              </a:rPr>
              <a:t>. </a:t>
            </a:r>
            <a:r>
              <a:rPr lang="en-US" sz="1000" dirty="0">
                <a:effectLst/>
                <a:hlinkClick r:id="rId8"/>
              </a:rPr>
              <a:t>https://www.productplan.com/glossary/moscow-prioritization</a:t>
            </a:r>
            <a:endParaRPr lang="en-US" sz="1000" dirty="0">
              <a:effectLst/>
            </a:endParaRPr>
          </a:p>
          <a:p>
            <a:pPr marL="457200" marR="0" indent="-457200">
              <a:buNone/>
            </a:pPr>
            <a:r>
              <a:rPr lang="en-US" sz="1000" dirty="0">
                <a:effectLst/>
              </a:rPr>
              <a:t> </a:t>
            </a:r>
          </a:p>
          <a:p>
            <a:pPr marL="457200" marR="0" indent="-457200">
              <a:lnSpc>
                <a:spcPts val="1500"/>
              </a:lnSpc>
              <a:buNone/>
            </a:pPr>
            <a:r>
              <a:rPr lang="en-US" sz="1000" dirty="0" err="1">
                <a:effectLst/>
              </a:rPr>
              <a:t>WiMi</a:t>
            </a:r>
            <a:r>
              <a:rPr lang="en-US" sz="1000" dirty="0">
                <a:effectLst/>
              </a:rPr>
              <a:t> Teamwork. (2026). </a:t>
            </a:r>
            <a:r>
              <a:rPr lang="en-US" sz="1000" i="1" dirty="0">
                <a:effectLst/>
              </a:rPr>
              <a:t>MoSCoW method: Simple prioritization matrix for project tasks</a:t>
            </a:r>
            <a:r>
              <a:rPr lang="en-US" sz="1000" dirty="0">
                <a:effectLst/>
              </a:rPr>
              <a:t>. </a:t>
            </a:r>
            <a:r>
              <a:rPr lang="en-US" sz="1000" dirty="0">
                <a:effectLst/>
                <a:hlinkClick r:id="rId9"/>
              </a:rPr>
              <a:t>https://www.wimi-teamwork.com/en/blog/project-management/moscow-method</a:t>
            </a:r>
            <a:endParaRPr lang="en-US" sz="1000" dirty="0">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2547</Words>
  <Application>Microsoft Office PowerPoint</Application>
  <PresentationFormat>On-screen Show (16:9)</PresentationFormat>
  <Paragraphs>136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Prioritizing GitHub Features Using the MoSCoW Framework</dc:title>
  <dc:subject>PptxGenJS Presentation</dc:subject>
  <dc:creator>PptxGenJS</dc:creator>
  <cp:lastModifiedBy>Aaron Gritz</cp:lastModifiedBy>
  <cp:revision>2</cp:revision>
  <dcterms:created xsi:type="dcterms:W3CDTF">2026-05-03T03:14:33Z</dcterms:created>
  <dcterms:modified xsi:type="dcterms:W3CDTF">2026-05-04T01:12:52Z</dcterms:modified>
</cp:coreProperties>
</file>